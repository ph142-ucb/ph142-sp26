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CSIKDEaLYUAixVmU+KDS5Oct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27E3F8-6EE5-49A7-B1F4-4F738B535FD2}">
  <a:tblStyle styleId="{C827E3F8-6EE5-49A7-B1F4-4F738B535F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C20AF67-AB53-4517-99BE-E3E2463129E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3f8e4e8e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3f8e4e8e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a3f8e4e8e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3f8e4e8e2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3f8e4e8e2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a3f8e4e8e2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3f8e4e8e2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3f8e4e8e2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a3f8e4e8e2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3f8e4e8e2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3f8e4e8e2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3a3f8e4e8e2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d023627c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d023627c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ad023627c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d023627c5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d023627c5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ad023627c5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1"/>
          <p:cNvSpPr/>
          <p:nvPr>
            <p:ph idx="2" type="pic"/>
          </p:nvPr>
        </p:nvSpPr>
        <p:spPr>
          <a:xfrm>
            <a:off x="5183188" y="987425"/>
            <a:ext cx="6172200" cy="4873625"/>
          </a:xfrm>
          <a:prstGeom prst="rect">
            <a:avLst/>
          </a:prstGeom>
          <a:noFill/>
          <a:ln>
            <a:noFill/>
          </a:ln>
        </p:spPr>
      </p:sp>
      <p:sp>
        <p:nvSpPr>
          <p:cNvPr id="68" name="Google Shape;68;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719256" cy="192993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PH 142: Review of Part III</a:t>
            </a:r>
            <a:endParaRPr/>
          </a:p>
        </p:txBody>
      </p:sp>
      <p:sp>
        <p:nvSpPr>
          <p:cNvPr id="90" name="Google Shape;90;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December 3rd, 2023</a:t>
            </a:r>
            <a:endParaRPr/>
          </a:p>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0"/>
              </a:spcBef>
              <a:spcAft>
                <a:spcPts val="0"/>
              </a:spcAft>
              <a:buClr>
                <a:schemeClr val="dk1"/>
              </a:buClr>
              <a:buSzPts val="2400"/>
              <a:buNone/>
            </a:pPr>
            <a:r>
              <a:rPr lang="en-US"/>
              <a:t>Instructor: </a:t>
            </a:r>
            <a:r>
              <a:rPr lang="en-US"/>
              <a:t>Tomer</a:t>
            </a:r>
            <a:r>
              <a:rPr lang="en-US"/>
              <a:t> Altman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Course Evaluation Assignment!</a:t>
            </a:r>
            <a:endParaRPr/>
          </a:p>
        </p:txBody>
      </p:sp>
      <p:sp>
        <p:nvSpPr>
          <p:cNvPr id="96" name="Google Shape;96;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Screenshot and submitted to Gradescope</a:t>
            </a:r>
            <a:endParaRPr/>
          </a:p>
          <a:p>
            <a:pPr indent="-228600" lvl="0" marL="228600" rtl="0" algn="l">
              <a:lnSpc>
                <a:spcPct val="90000"/>
              </a:lnSpc>
              <a:spcBef>
                <a:spcPts val="0"/>
              </a:spcBef>
              <a:spcAft>
                <a:spcPts val="0"/>
              </a:spcAft>
              <a:buClr>
                <a:schemeClr val="dk1"/>
              </a:buClr>
              <a:buSzPts val="2800"/>
              <a:buChar char="•"/>
            </a:pPr>
            <a:r>
              <a:rPr lang="en-US"/>
              <a:t>Due Dec 5th at 11:59 PM</a:t>
            </a:r>
            <a:endParaRPr/>
          </a:p>
          <a:p>
            <a:pPr indent="-165100" lvl="0" marL="228600" rtl="0" algn="l">
              <a:lnSpc>
                <a:spcPct val="90000"/>
              </a:lnSpc>
              <a:spcBef>
                <a:spcPts val="0"/>
              </a:spcBef>
              <a:spcAft>
                <a:spcPts val="0"/>
              </a:spcAft>
              <a:buSzPts val="1800"/>
              <a:buChar char="•"/>
            </a:pPr>
            <a:r>
              <a:rPr lang="en-US"/>
              <a:t>This assignment contributes 5% to your participation grade</a:t>
            </a:r>
            <a:endParaRPr/>
          </a:p>
          <a:p>
            <a:pPr indent="-165100" lvl="0" marL="228600" rtl="0" algn="l">
              <a:lnSpc>
                <a:spcPct val="90000"/>
              </a:lnSpc>
              <a:spcBef>
                <a:spcPts val="0"/>
              </a:spcBef>
              <a:spcAft>
                <a:spcPts val="0"/>
              </a:spcAft>
              <a:buSzPts val="1800"/>
              <a:buChar char="•"/>
            </a:pPr>
            <a:r>
              <a:rPr lang="en-US"/>
              <a:t>This is </a:t>
            </a:r>
            <a:r>
              <a:rPr b="1" lang="en-US"/>
              <a:t>NOT</a:t>
            </a:r>
            <a:r>
              <a:rPr lang="en-US"/>
              <a:t> extra credit. You will </a:t>
            </a:r>
            <a:r>
              <a:rPr i="1" lang="en-US"/>
              <a:t>lower</a:t>
            </a:r>
            <a:r>
              <a:rPr lang="en-US"/>
              <a:t> your grade if you skip this!</a:t>
            </a:r>
            <a:endParaRPr/>
          </a:p>
          <a:p>
            <a:pPr indent="-165100" lvl="0" marL="228600" rtl="0" algn="l">
              <a:lnSpc>
                <a:spcPct val="90000"/>
              </a:lnSpc>
              <a:spcBef>
                <a:spcPts val="0"/>
              </a:spcBef>
              <a:spcAft>
                <a:spcPts val="0"/>
              </a:spcAft>
              <a:buSzPts val="1800"/>
              <a:buChar char="•"/>
            </a:pPr>
            <a:r>
              <a:rPr lang="en-US"/>
              <a:t>See pinned message on Ed for more details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 III of the course</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Heavily focused on conducting hypothesis tests and calculating confidence intervals</a:t>
            </a:r>
            <a:endParaRPr/>
          </a:p>
          <a:p>
            <a:pPr indent="-228600" lvl="0" marL="228600" rtl="0" algn="l">
              <a:lnSpc>
                <a:spcPct val="90000"/>
              </a:lnSpc>
              <a:spcBef>
                <a:spcPts val="1000"/>
              </a:spcBef>
              <a:spcAft>
                <a:spcPts val="0"/>
              </a:spcAft>
              <a:buClr>
                <a:schemeClr val="dk1"/>
              </a:buClr>
              <a:buSzPts val="2800"/>
              <a:buChar char="•"/>
            </a:pPr>
            <a:r>
              <a:rPr lang="en-US"/>
              <a:t>We covered many tests one by one. Your task is to be able to know which test applies when you read a question.</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3f8e4e8e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Hypothesis testing: four steps</a:t>
            </a:r>
            <a:endParaRPr/>
          </a:p>
        </p:txBody>
      </p:sp>
      <p:sp>
        <p:nvSpPr>
          <p:cNvPr id="109" name="Google Shape;109;g3a3f8e4e8e2_0_0"/>
          <p:cNvSpPr txBox="1"/>
          <p:nvPr/>
        </p:nvSpPr>
        <p:spPr>
          <a:xfrm>
            <a:off x="9525650" y="6079075"/>
            <a:ext cx="2452200" cy="7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Baldi &amp; Moore</a:t>
            </a:r>
            <a:endParaRPr sz="2800">
              <a:solidFill>
                <a:schemeClr val="dk1"/>
              </a:solidFill>
              <a:latin typeface="Calibri"/>
              <a:ea typeface="Calibri"/>
              <a:cs typeface="Calibri"/>
              <a:sym typeface="Calibri"/>
            </a:endParaRPr>
          </a:p>
        </p:txBody>
      </p:sp>
      <p:pic>
        <p:nvPicPr>
          <p:cNvPr id="110" name="Google Shape;110;g3a3f8e4e8e2_0_0" title="sig-tests-4-step.jpg"/>
          <p:cNvPicPr preferRelativeResize="0"/>
          <p:nvPr/>
        </p:nvPicPr>
        <p:blipFill>
          <a:blip r:embed="rId3">
            <a:alphaModFix/>
          </a:blip>
          <a:stretch>
            <a:fillRect/>
          </a:stretch>
        </p:blipFill>
        <p:spPr>
          <a:xfrm>
            <a:off x="838200" y="1429750"/>
            <a:ext cx="9220849" cy="45383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Parts of a hypothesis test	</a:t>
            </a:r>
            <a:endParaRPr/>
          </a:p>
        </p:txBody>
      </p:sp>
      <p:sp>
        <p:nvSpPr>
          <p:cNvPr id="116" name="Google Shape;116;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are the assumptions?</a:t>
            </a:r>
            <a:endParaRPr/>
          </a:p>
          <a:p>
            <a:pPr indent="-228600" lvl="0" marL="228600" rtl="0" algn="l">
              <a:lnSpc>
                <a:spcPct val="90000"/>
              </a:lnSpc>
              <a:spcBef>
                <a:spcPts val="1000"/>
              </a:spcBef>
              <a:spcAft>
                <a:spcPts val="0"/>
              </a:spcAft>
              <a:buClr>
                <a:schemeClr val="dk1"/>
              </a:buClr>
              <a:buSzPts val="2800"/>
              <a:buChar char="•"/>
            </a:pPr>
            <a:r>
              <a:rPr lang="en-US"/>
              <a:t>State the null and alternative hypotheses. Are they one or two-sided?</a:t>
            </a:r>
            <a:endParaRPr/>
          </a:p>
          <a:p>
            <a:pPr indent="-228600" lvl="0" marL="228600" rtl="0" algn="l">
              <a:lnSpc>
                <a:spcPct val="90000"/>
              </a:lnSpc>
              <a:spcBef>
                <a:spcPts val="1000"/>
              </a:spcBef>
              <a:spcAft>
                <a:spcPts val="0"/>
              </a:spcAft>
              <a:buClr>
                <a:schemeClr val="dk1"/>
              </a:buClr>
              <a:buSzPts val="2800"/>
              <a:buChar char="•"/>
            </a:pPr>
            <a:r>
              <a:rPr lang="en-US"/>
              <a:t>Calculate the test statistic</a:t>
            </a:r>
            <a:endParaRPr/>
          </a:p>
          <a:p>
            <a:pPr indent="-228600" lvl="0" marL="228600" rtl="0" algn="l">
              <a:lnSpc>
                <a:spcPct val="90000"/>
              </a:lnSpc>
              <a:spcBef>
                <a:spcPts val="1000"/>
              </a:spcBef>
              <a:spcAft>
                <a:spcPts val="0"/>
              </a:spcAft>
              <a:buClr>
                <a:schemeClr val="dk1"/>
              </a:buClr>
              <a:buSzPts val="2800"/>
              <a:buChar char="•"/>
            </a:pPr>
            <a:r>
              <a:rPr lang="en-US"/>
              <a:t>Calculate the p-value (or write/identify the code to do so)</a:t>
            </a:r>
            <a:endParaRPr/>
          </a:p>
          <a:p>
            <a:pPr indent="-228600" lvl="0" marL="228600" rtl="0" algn="l">
              <a:lnSpc>
                <a:spcPct val="90000"/>
              </a:lnSpc>
              <a:spcBef>
                <a:spcPts val="1000"/>
              </a:spcBef>
              <a:spcAft>
                <a:spcPts val="0"/>
              </a:spcAft>
              <a:buClr>
                <a:schemeClr val="dk1"/>
              </a:buClr>
              <a:buSzPts val="2800"/>
              <a:buChar char="•"/>
            </a:pPr>
            <a:r>
              <a:rPr lang="en-US"/>
              <a:t>Interpret the p-value with respect to consistency with the null hypothesis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a3f8e4e8e2_0_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Confidence Intervals: Four Steps</a:t>
            </a:r>
            <a:endParaRPr/>
          </a:p>
        </p:txBody>
      </p:sp>
      <p:sp>
        <p:nvSpPr>
          <p:cNvPr id="123" name="Google Shape;123;g3a3f8e4e8e2_0_8"/>
          <p:cNvSpPr txBox="1"/>
          <p:nvPr/>
        </p:nvSpPr>
        <p:spPr>
          <a:xfrm>
            <a:off x="9882125" y="6034025"/>
            <a:ext cx="2452200" cy="7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Baldi &amp; Moore</a:t>
            </a:r>
            <a:endParaRPr sz="2800">
              <a:solidFill>
                <a:schemeClr val="dk1"/>
              </a:solidFill>
              <a:latin typeface="Calibri"/>
              <a:ea typeface="Calibri"/>
              <a:cs typeface="Calibri"/>
              <a:sym typeface="Calibri"/>
            </a:endParaRPr>
          </a:p>
        </p:txBody>
      </p:sp>
      <p:pic>
        <p:nvPicPr>
          <p:cNvPr id="124" name="Google Shape;124;g3a3f8e4e8e2_0_8" title="conf-int-four-step.jpg"/>
          <p:cNvPicPr preferRelativeResize="0"/>
          <p:nvPr/>
        </p:nvPicPr>
        <p:blipFill>
          <a:blip r:embed="rId3">
            <a:alphaModFix/>
          </a:blip>
          <a:stretch>
            <a:fillRect/>
          </a:stretch>
        </p:blipFill>
        <p:spPr>
          <a:xfrm>
            <a:off x="838200" y="1600850"/>
            <a:ext cx="9718733" cy="4038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Confidence interval analysis</a:t>
            </a:r>
            <a:endParaRPr/>
          </a:p>
        </p:txBody>
      </p:sp>
      <p:sp>
        <p:nvSpPr>
          <p:cNvPr id="131" name="Google Shape;13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Form: estimate +/- (critical value x standard error)</a:t>
            </a:r>
            <a:endParaRPr/>
          </a:p>
          <a:p>
            <a:pPr indent="-228600" lvl="0" marL="228600" rtl="0" algn="l">
              <a:lnSpc>
                <a:spcPct val="90000"/>
              </a:lnSpc>
              <a:spcBef>
                <a:spcPts val="1000"/>
              </a:spcBef>
              <a:spcAft>
                <a:spcPts val="0"/>
              </a:spcAft>
              <a:buClr>
                <a:schemeClr val="dk1"/>
              </a:buClr>
              <a:buSzPts val="2800"/>
              <a:buChar char="•"/>
            </a:pPr>
            <a:r>
              <a:rPr lang="en-US"/>
              <a:t>Estimate is what you calculate from your data</a:t>
            </a:r>
            <a:endParaRPr/>
          </a:p>
          <a:p>
            <a:pPr indent="-228600" lvl="1" marL="685800" rtl="0" algn="l">
              <a:lnSpc>
                <a:spcPct val="90000"/>
              </a:lnSpc>
              <a:spcBef>
                <a:spcPts val="500"/>
              </a:spcBef>
              <a:spcAft>
                <a:spcPts val="0"/>
              </a:spcAft>
              <a:buClr>
                <a:schemeClr val="dk1"/>
              </a:buClr>
              <a:buSzPts val="2400"/>
              <a:buChar char="•"/>
            </a:pPr>
            <a:r>
              <a:rPr lang="en-US"/>
              <a:t>The sample mean</a:t>
            </a:r>
            <a:endParaRPr/>
          </a:p>
          <a:p>
            <a:pPr indent="-228600" lvl="1" marL="685800" rtl="0" algn="l">
              <a:lnSpc>
                <a:spcPct val="90000"/>
              </a:lnSpc>
              <a:spcBef>
                <a:spcPts val="500"/>
              </a:spcBef>
              <a:spcAft>
                <a:spcPts val="0"/>
              </a:spcAft>
              <a:buClr>
                <a:schemeClr val="dk1"/>
              </a:buClr>
              <a:buSzPts val="2400"/>
              <a:buChar char="•"/>
            </a:pPr>
            <a:r>
              <a:rPr lang="en-US"/>
              <a:t>The sample proportion</a:t>
            </a:r>
            <a:endParaRPr/>
          </a:p>
          <a:p>
            <a:pPr indent="-228600" lvl="1" marL="685800" rtl="0" algn="l">
              <a:lnSpc>
                <a:spcPct val="90000"/>
              </a:lnSpc>
              <a:spcBef>
                <a:spcPts val="500"/>
              </a:spcBef>
              <a:spcAft>
                <a:spcPts val="0"/>
              </a:spcAft>
              <a:buClr>
                <a:schemeClr val="dk1"/>
              </a:buClr>
              <a:buSzPts val="2400"/>
              <a:buChar char="•"/>
            </a:pPr>
            <a:r>
              <a:rPr lang="en-US"/>
              <a:t>The difference in means (or proportions)</a:t>
            </a:r>
            <a:endParaRPr/>
          </a:p>
          <a:p>
            <a:pPr indent="-228600" lvl="0" marL="228600" rtl="0" algn="l">
              <a:lnSpc>
                <a:spcPct val="90000"/>
              </a:lnSpc>
              <a:spcBef>
                <a:spcPts val="1000"/>
              </a:spcBef>
              <a:spcAft>
                <a:spcPts val="0"/>
              </a:spcAft>
              <a:buClr>
                <a:schemeClr val="dk1"/>
              </a:buClr>
              <a:buSzPts val="2800"/>
              <a:buChar char="•"/>
            </a:pPr>
            <a:r>
              <a:rPr lang="en-US"/>
              <a:t>The critical value is found using one of the R `q` functions like `qnorm()` or `qt()`. You are asking R for the value such that 95% (or 99%, say) of the area of the distribution is between +/- that value.</a:t>
            </a:r>
            <a:endParaRPr/>
          </a:p>
          <a:p>
            <a:pPr indent="-228600" lvl="0" marL="228600" rtl="0" algn="l">
              <a:lnSpc>
                <a:spcPct val="90000"/>
              </a:lnSpc>
              <a:spcBef>
                <a:spcPts val="1000"/>
              </a:spcBef>
              <a:spcAft>
                <a:spcPts val="0"/>
              </a:spcAft>
              <a:buClr>
                <a:schemeClr val="dk1"/>
              </a:buClr>
              <a:buSzPts val="2800"/>
              <a:buChar char="•"/>
            </a:pPr>
            <a:r>
              <a:rPr lang="en-US"/>
              <a:t>The standard error is calculated using a formula, such as s/sqrt(n). The standard error decreases as the sample size n increases</a:t>
            </a:r>
            <a:endParaRPr/>
          </a:p>
          <a:p>
            <a:pPr indent="-165100" lvl="0" marL="228600" rtl="0" algn="l">
              <a:lnSpc>
                <a:spcPct val="90000"/>
              </a:lnSpc>
              <a:spcBef>
                <a:spcPts val="1000"/>
              </a:spcBef>
              <a:spcAft>
                <a:spcPts val="0"/>
              </a:spcAft>
              <a:buSzPts val="1800"/>
              <a:buChar char="•"/>
            </a:pPr>
            <a:r>
              <a:rPr lang="en-US"/>
              <a:t>No parametric formula for the sampling distribution of an estimator? No problem, just use the Bootstrap!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Meta Questions: </a:t>
            </a:r>
            <a:endParaRPr/>
          </a:p>
          <a:p>
            <a:pPr indent="0" lvl="0" marL="0" rtl="0" algn="l">
              <a:lnSpc>
                <a:spcPct val="90000"/>
              </a:lnSpc>
              <a:spcBef>
                <a:spcPts val="0"/>
              </a:spcBef>
              <a:spcAft>
                <a:spcPts val="0"/>
              </a:spcAft>
              <a:buClr>
                <a:schemeClr val="dk1"/>
              </a:buClr>
              <a:buSzPct val="100000"/>
              <a:buFont typeface="Calibri"/>
              <a:buNone/>
            </a:pPr>
            <a:r>
              <a:rPr lang="en-US"/>
              <a:t>What to ask yourself when you read a question</a:t>
            </a:r>
            <a:endParaRPr/>
          </a:p>
        </p:txBody>
      </p:sp>
      <p:sp>
        <p:nvSpPr>
          <p:cNvPr id="137" name="Google Shape;13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188595" lvl="0" marL="228600" rtl="0" algn="l">
              <a:lnSpc>
                <a:spcPct val="90000"/>
              </a:lnSpc>
              <a:spcBef>
                <a:spcPts val="0"/>
              </a:spcBef>
              <a:spcAft>
                <a:spcPts val="0"/>
              </a:spcAft>
              <a:buClr>
                <a:schemeClr val="dk1"/>
              </a:buClr>
              <a:buSzPct val="100000"/>
              <a:buChar char="•"/>
            </a:pPr>
            <a:r>
              <a:rPr lang="en-US"/>
              <a:t>What type of data is represented?</a:t>
            </a:r>
            <a:endParaRPr/>
          </a:p>
          <a:p>
            <a:pPr indent="-194309" lvl="1" marL="685800" rtl="0" algn="l">
              <a:lnSpc>
                <a:spcPct val="90000"/>
              </a:lnSpc>
              <a:spcBef>
                <a:spcPts val="500"/>
              </a:spcBef>
              <a:spcAft>
                <a:spcPts val="0"/>
              </a:spcAft>
              <a:buClr>
                <a:schemeClr val="dk1"/>
              </a:buClr>
              <a:buSzPct val="100000"/>
              <a:buChar char="•"/>
            </a:pPr>
            <a:r>
              <a:rPr lang="en-US"/>
              <a:t>Quantitative</a:t>
            </a:r>
            <a:endParaRPr/>
          </a:p>
          <a:p>
            <a:pPr indent="-202882" lvl="2" marL="1143000" rtl="0" algn="l">
              <a:lnSpc>
                <a:spcPct val="90000"/>
              </a:lnSpc>
              <a:spcBef>
                <a:spcPts val="500"/>
              </a:spcBef>
              <a:spcAft>
                <a:spcPts val="0"/>
              </a:spcAft>
              <a:buSzPct val="90000"/>
              <a:buChar char="•"/>
            </a:pPr>
            <a:r>
              <a:rPr lang="en-US"/>
              <a:t>Discrete</a:t>
            </a:r>
            <a:endParaRPr/>
          </a:p>
          <a:p>
            <a:pPr indent="-202882" lvl="2" marL="1143000" rtl="0" algn="l">
              <a:lnSpc>
                <a:spcPct val="90000"/>
              </a:lnSpc>
              <a:spcBef>
                <a:spcPts val="500"/>
              </a:spcBef>
              <a:spcAft>
                <a:spcPts val="0"/>
              </a:spcAft>
              <a:buSzPct val="90000"/>
              <a:buChar char="•"/>
            </a:pPr>
            <a:r>
              <a:rPr lang="en-US"/>
              <a:t>Continuous</a:t>
            </a:r>
            <a:endParaRPr/>
          </a:p>
          <a:p>
            <a:pPr indent="-194309" lvl="1" marL="685800" rtl="0" algn="l">
              <a:lnSpc>
                <a:spcPct val="90000"/>
              </a:lnSpc>
              <a:spcBef>
                <a:spcPts val="500"/>
              </a:spcBef>
              <a:spcAft>
                <a:spcPts val="0"/>
              </a:spcAft>
              <a:buClr>
                <a:schemeClr val="dk1"/>
              </a:buClr>
              <a:buSzPct val="100000"/>
              <a:buChar char="•"/>
            </a:pPr>
            <a:r>
              <a:rPr lang="en-US"/>
              <a:t>Categorical</a:t>
            </a:r>
            <a:endParaRPr/>
          </a:p>
          <a:p>
            <a:pPr indent="-232410" lvl="2" marL="1143000" rtl="0" algn="l">
              <a:lnSpc>
                <a:spcPct val="90000"/>
              </a:lnSpc>
              <a:spcBef>
                <a:spcPts val="500"/>
              </a:spcBef>
              <a:spcAft>
                <a:spcPts val="0"/>
              </a:spcAft>
              <a:buClr>
                <a:schemeClr val="dk1"/>
              </a:buClr>
              <a:buSzPct val="120000"/>
              <a:buChar char="•"/>
            </a:pPr>
            <a:r>
              <a:rPr lang="en-US"/>
              <a:t>Binary</a:t>
            </a:r>
            <a:endParaRPr/>
          </a:p>
          <a:p>
            <a:pPr indent="-232410" lvl="2" marL="1143000" rtl="0" algn="l">
              <a:lnSpc>
                <a:spcPct val="90000"/>
              </a:lnSpc>
              <a:spcBef>
                <a:spcPts val="500"/>
              </a:spcBef>
              <a:spcAft>
                <a:spcPts val="0"/>
              </a:spcAft>
              <a:buClr>
                <a:schemeClr val="dk1"/>
              </a:buClr>
              <a:buSzPct val="120000"/>
              <a:buChar char="•"/>
            </a:pPr>
            <a:r>
              <a:rPr lang="en-US"/>
              <a:t>Categorical with &gt;2 levels</a:t>
            </a:r>
            <a:endParaRPr/>
          </a:p>
          <a:p>
            <a:pPr indent="-202882" lvl="3" marL="1600200" rtl="0" algn="l">
              <a:lnSpc>
                <a:spcPct val="90000"/>
              </a:lnSpc>
              <a:spcBef>
                <a:spcPts val="500"/>
              </a:spcBef>
              <a:spcAft>
                <a:spcPts val="0"/>
              </a:spcAft>
              <a:buSzPct val="100000"/>
              <a:buChar char="•"/>
            </a:pPr>
            <a:r>
              <a:rPr lang="en-US"/>
              <a:t>Ordinal</a:t>
            </a:r>
            <a:endParaRPr/>
          </a:p>
          <a:p>
            <a:pPr indent="-202882" lvl="3" marL="1600200" rtl="0" algn="l">
              <a:lnSpc>
                <a:spcPct val="90000"/>
              </a:lnSpc>
              <a:spcBef>
                <a:spcPts val="500"/>
              </a:spcBef>
              <a:spcAft>
                <a:spcPts val="0"/>
              </a:spcAft>
              <a:buSzPct val="100000"/>
              <a:buChar char="•"/>
            </a:pPr>
            <a:r>
              <a:rPr lang="en-US"/>
              <a:t>Nominal</a:t>
            </a:r>
            <a:endParaRPr/>
          </a:p>
          <a:p>
            <a:pPr indent="-188595" lvl="0" marL="228600" rtl="0" algn="l">
              <a:lnSpc>
                <a:spcPct val="90000"/>
              </a:lnSpc>
              <a:spcBef>
                <a:spcPts val="1000"/>
              </a:spcBef>
              <a:spcAft>
                <a:spcPts val="0"/>
              </a:spcAft>
              <a:buClr>
                <a:schemeClr val="dk1"/>
              </a:buClr>
              <a:buSzPct val="100000"/>
              <a:buChar char="•"/>
            </a:pPr>
            <a:r>
              <a:rPr lang="en-US"/>
              <a:t>How many samples are there?</a:t>
            </a:r>
            <a:endParaRPr/>
          </a:p>
          <a:p>
            <a:pPr indent="-194309" lvl="1" marL="685800" rtl="0" algn="l">
              <a:lnSpc>
                <a:spcPct val="90000"/>
              </a:lnSpc>
              <a:spcBef>
                <a:spcPts val="500"/>
              </a:spcBef>
              <a:spcAft>
                <a:spcPts val="0"/>
              </a:spcAft>
              <a:buClr>
                <a:schemeClr val="dk1"/>
              </a:buClr>
              <a:buSzPct val="100000"/>
              <a:buChar char="•"/>
            </a:pPr>
            <a:r>
              <a:rPr lang="en-US"/>
              <a:t>One sample</a:t>
            </a:r>
            <a:endParaRPr/>
          </a:p>
          <a:p>
            <a:pPr indent="-194309" lvl="1" marL="685800" rtl="0" algn="l">
              <a:lnSpc>
                <a:spcPct val="90000"/>
              </a:lnSpc>
              <a:spcBef>
                <a:spcPts val="500"/>
              </a:spcBef>
              <a:spcAft>
                <a:spcPts val="0"/>
              </a:spcAft>
              <a:buClr>
                <a:schemeClr val="dk1"/>
              </a:buClr>
              <a:buSzPct val="100000"/>
              <a:buChar char="•"/>
            </a:pPr>
            <a:r>
              <a:rPr lang="en-US"/>
              <a:t>Two samples</a:t>
            </a:r>
            <a:endParaRPr/>
          </a:p>
          <a:p>
            <a:pPr indent="-194309" lvl="1" marL="685800" rtl="0" algn="l">
              <a:lnSpc>
                <a:spcPct val="90000"/>
              </a:lnSpc>
              <a:spcBef>
                <a:spcPts val="500"/>
              </a:spcBef>
              <a:spcAft>
                <a:spcPts val="0"/>
              </a:spcAft>
              <a:buClr>
                <a:schemeClr val="dk1"/>
              </a:buClr>
              <a:buSzPct val="100000"/>
              <a:buChar char="•"/>
            </a:pPr>
            <a:r>
              <a:rPr lang="en-US"/>
              <a:t>&gt; Two samples</a:t>
            </a:r>
            <a:endParaRPr/>
          </a:p>
          <a:p>
            <a:pPr indent="-188595" lvl="0" marL="228600" rtl="0" algn="l">
              <a:lnSpc>
                <a:spcPct val="90000"/>
              </a:lnSpc>
              <a:spcBef>
                <a:spcPts val="1000"/>
              </a:spcBef>
              <a:spcAft>
                <a:spcPts val="0"/>
              </a:spcAft>
              <a:buClr>
                <a:schemeClr val="dk1"/>
              </a:buClr>
              <a:buSzPct val="100000"/>
              <a:buChar char="•"/>
            </a:pPr>
            <a:r>
              <a:rPr lang="en-US"/>
              <a:t>How many relevant variables are there in the data to test?</a:t>
            </a:r>
            <a:endParaRPr/>
          </a:p>
          <a:p>
            <a:pPr indent="-152082" lvl="0" marL="228600" rtl="0" algn="l">
              <a:lnSpc>
                <a:spcPct val="90000"/>
              </a:lnSpc>
              <a:spcBef>
                <a:spcPts val="1000"/>
              </a:spcBef>
              <a:spcAft>
                <a:spcPts val="0"/>
              </a:spcAft>
              <a:buSzPct val="67299"/>
              <a:buChar char="•"/>
            </a:pPr>
            <a:r>
              <a:rPr b="1" i="1" lang="en-US" sz="3058"/>
              <a:t>What is the problem really asking for?</a:t>
            </a:r>
            <a:endParaRPr b="1" i="1" sz="3058"/>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a3f8e4e8e2_0_16"/>
          <p:cNvSpPr txBox="1"/>
          <p:nvPr>
            <p:ph type="title"/>
          </p:nvPr>
        </p:nvSpPr>
        <p:spPr>
          <a:xfrm>
            <a:off x="838200" y="1512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Single Variable Methods</a:t>
            </a:r>
            <a:endParaRPr/>
          </a:p>
        </p:txBody>
      </p:sp>
      <p:sp>
        <p:nvSpPr>
          <p:cNvPr id="144" name="Google Shape;144;g3a3f8e4e8e2_0_16"/>
          <p:cNvSpPr txBox="1"/>
          <p:nvPr/>
        </p:nvSpPr>
        <p:spPr>
          <a:xfrm>
            <a:off x="9582700" y="5825050"/>
            <a:ext cx="2452200" cy="7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Baldi &amp; Moore</a:t>
            </a:r>
            <a:endParaRPr sz="2800">
              <a:solidFill>
                <a:schemeClr val="dk1"/>
              </a:solidFill>
              <a:latin typeface="Calibri"/>
              <a:ea typeface="Calibri"/>
              <a:cs typeface="Calibri"/>
              <a:sym typeface="Calibri"/>
            </a:endParaRPr>
          </a:p>
        </p:txBody>
      </p:sp>
      <p:pic>
        <p:nvPicPr>
          <p:cNvPr id="145" name="Google Shape;145;g3a3f8e4e8e2_0_16" title="one-var-methods.jpg"/>
          <p:cNvPicPr preferRelativeResize="0"/>
          <p:nvPr/>
        </p:nvPicPr>
        <p:blipFill>
          <a:blip r:embed="rId3">
            <a:alphaModFix/>
          </a:blip>
          <a:stretch>
            <a:fillRect/>
          </a:stretch>
        </p:blipFill>
        <p:spPr>
          <a:xfrm>
            <a:off x="993600" y="1258650"/>
            <a:ext cx="8264038" cy="5076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If you have continuous data, single variable:</a:t>
            </a:r>
            <a:endParaRPr/>
          </a:p>
        </p:txBody>
      </p:sp>
      <p:sp>
        <p:nvSpPr>
          <p:cNvPr id="152" name="Google Shape;152;p7"/>
          <p:cNvSpPr txBox="1"/>
          <p:nvPr/>
        </p:nvSpPr>
        <p:spPr>
          <a:xfrm>
            <a:off x="5666495" y="1690688"/>
            <a:ext cx="2115000" cy="3693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How many samples?</a:t>
            </a:r>
            <a:endParaRPr/>
          </a:p>
        </p:txBody>
      </p:sp>
      <p:sp>
        <p:nvSpPr>
          <p:cNvPr id="153" name="Google Shape;153;p7"/>
          <p:cNvSpPr txBox="1"/>
          <p:nvPr/>
        </p:nvSpPr>
        <p:spPr>
          <a:xfrm>
            <a:off x="1676400" y="2267961"/>
            <a:ext cx="1408545"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One sample</a:t>
            </a:r>
            <a:endParaRPr/>
          </a:p>
        </p:txBody>
      </p:sp>
      <p:sp>
        <p:nvSpPr>
          <p:cNvPr id="154" name="Google Shape;154;p7"/>
          <p:cNvSpPr txBox="1"/>
          <p:nvPr/>
        </p:nvSpPr>
        <p:spPr>
          <a:xfrm>
            <a:off x="6019786" y="2267936"/>
            <a:ext cx="1408500" cy="3693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Two samples</a:t>
            </a:r>
            <a:endParaRPr/>
          </a:p>
        </p:txBody>
      </p:sp>
      <p:sp>
        <p:nvSpPr>
          <p:cNvPr id="155" name="Google Shape;155;p7"/>
          <p:cNvSpPr txBox="1"/>
          <p:nvPr/>
        </p:nvSpPr>
        <p:spPr>
          <a:xfrm>
            <a:off x="9074728" y="2267961"/>
            <a:ext cx="1233054"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&gt;2 samples</a:t>
            </a:r>
            <a:endParaRPr/>
          </a:p>
        </p:txBody>
      </p:sp>
      <p:sp>
        <p:nvSpPr>
          <p:cNvPr id="156" name="Google Shape;156;p7"/>
          <p:cNvSpPr txBox="1"/>
          <p:nvPr/>
        </p:nvSpPr>
        <p:spPr>
          <a:xfrm>
            <a:off x="286326" y="3371703"/>
            <a:ext cx="151476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Known population SD</a:t>
            </a:r>
            <a:endParaRPr/>
          </a:p>
        </p:txBody>
      </p:sp>
      <p:sp>
        <p:nvSpPr>
          <p:cNvPr id="157" name="Google Shape;157;p7"/>
          <p:cNvSpPr txBox="1"/>
          <p:nvPr/>
        </p:nvSpPr>
        <p:spPr>
          <a:xfrm>
            <a:off x="1998684" y="3382588"/>
            <a:ext cx="151476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Unknown population SD</a:t>
            </a:r>
            <a:endParaRPr/>
          </a:p>
        </p:txBody>
      </p:sp>
      <p:sp>
        <p:nvSpPr>
          <p:cNvPr id="158" name="Google Shape;158;p7"/>
          <p:cNvSpPr txBox="1"/>
          <p:nvPr/>
        </p:nvSpPr>
        <p:spPr>
          <a:xfrm>
            <a:off x="1998683" y="4287999"/>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One sample t-test for a population mean (Ch 17)</a:t>
            </a:r>
            <a:endParaRPr/>
          </a:p>
        </p:txBody>
      </p:sp>
      <p:sp>
        <p:nvSpPr>
          <p:cNvPr id="159" name="Google Shape;159;p7"/>
          <p:cNvSpPr txBox="1"/>
          <p:nvPr/>
        </p:nvSpPr>
        <p:spPr>
          <a:xfrm>
            <a:off x="272471" y="4277112"/>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One sample z-test for a population mean (Ch 17)</a:t>
            </a:r>
            <a:endParaRPr/>
          </a:p>
        </p:txBody>
      </p:sp>
      <p:sp>
        <p:nvSpPr>
          <p:cNvPr id="160" name="Google Shape;160;p7"/>
          <p:cNvSpPr txBox="1"/>
          <p:nvPr/>
        </p:nvSpPr>
        <p:spPr>
          <a:xfrm>
            <a:off x="5966687" y="4277112"/>
            <a:ext cx="1514765" cy="92333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Independent two-sample t-test (Ch 18)</a:t>
            </a:r>
            <a:endParaRPr/>
          </a:p>
        </p:txBody>
      </p:sp>
      <p:sp>
        <p:nvSpPr>
          <p:cNvPr id="161" name="Google Shape;161;p7"/>
          <p:cNvSpPr txBox="1"/>
          <p:nvPr/>
        </p:nvSpPr>
        <p:spPr>
          <a:xfrm>
            <a:off x="5666506" y="3325536"/>
            <a:ext cx="211512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Unpaired data/independent samples</a:t>
            </a:r>
            <a:endParaRPr/>
          </a:p>
        </p:txBody>
      </p:sp>
      <p:cxnSp>
        <p:nvCxnSpPr>
          <p:cNvPr id="162" name="Google Shape;162;p7"/>
          <p:cNvCxnSpPr>
            <a:stCxn id="152" idx="2"/>
            <a:endCxn id="154" idx="0"/>
          </p:cNvCxnSpPr>
          <p:nvPr/>
        </p:nvCxnSpPr>
        <p:spPr>
          <a:xfrm>
            <a:off x="6723995" y="2059988"/>
            <a:ext cx="0" cy="207900"/>
          </a:xfrm>
          <a:prstGeom prst="straightConnector1">
            <a:avLst/>
          </a:prstGeom>
          <a:noFill/>
          <a:ln cap="flat" cmpd="sng" w="28575">
            <a:solidFill>
              <a:schemeClr val="accent1"/>
            </a:solidFill>
            <a:prstDash val="solid"/>
            <a:miter lim="800000"/>
            <a:headEnd len="sm" w="sm" type="none"/>
            <a:tailEnd len="sm" w="sm" type="none"/>
          </a:ln>
        </p:spPr>
      </p:cxnSp>
      <p:cxnSp>
        <p:nvCxnSpPr>
          <p:cNvPr id="163" name="Google Shape;163;p7"/>
          <p:cNvCxnSpPr>
            <a:stCxn id="152" idx="2"/>
            <a:endCxn id="153" idx="0"/>
          </p:cNvCxnSpPr>
          <p:nvPr/>
        </p:nvCxnSpPr>
        <p:spPr>
          <a:xfrm flipH="1">
            <a:off x="2380595" y="2059988"/>
            <a:ext cx="4343400" cy="207900"/>
          </a:xfrm>
          <a:prstGeom prst="straightConnector1">
            <a:avLst/>
          </a:prstGeom>
          <a:noFill/>
          <a:ln cap="flat" cmpd="sng" w="28575">
            <a:solidFill>
              <a:schemeClr val="accent1"/>
            </a:solidFill>
            <a:prstDash val="solid"/>
            <a:miter lim="800000"/>
            <a:headEnd len="sm" w="sm" type="none"/>
            <a:tailEnd len="sm" w="sm" type="none"/>
          </a:ln>
        </p:spPr>
      </p:cxnSp>
      <p:cxnSp>
        <p:nvCxnSpPr>
          <p:cNvPr id="164" name="Google Shape;164;p7"/>
          <p:cNvCxnSpPr>
            <a:stCxn id="152" idx="2"/>
            <a:endCxn id="155" idx="0"/>
          </p:cNvCxnSpPr>
          <p:nvPr/>
        </p:nvCxnSpPr>
        <p:spPr>
          <a:xfrm>
            <a:off x="6723995" y="2059988"/>
            <a:ext cx="2967300" cy="207900"/>
          </a:xfrm>
          <a:prstGeom prst="straightConnector1">
            <a:avLst/>
          </a:prstGeom>
          <a:noFill/>
          <a:ln cap="flat" cmpd="sng" w="28575">
            <a:solidFill>
              <a:schemeClr val="accent1"/>
            </a:solidFill>
            <a:prstDash val="solid"/>
            <a:miter lim="800000"/>
            <a:headEnd len="sm" w="sm" type="none"/>
            <a:tailEnd len="sm" w="sm" type="none"/>
          </a:ln>
        </p:spPr>
      </p:cxnSp>
      <p:sp>
        <p:nvSpPr>
          <p:cNvPr id="165" name="Google Shape;165;p7"/>
          <p:cNvSpPr txBox="1"/>
          <p:nvPr/>
        </p:nvSpPr>
        <p:spPr>
          <a:xfrm>
            <a:off x="8933871" y="4248878"/>
            <a:ext cx="1514700" cy="6465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ANOVA (Ch 24)</a:t>
            </a:r>
            <a:endParaRPr/>
          </a:p>
        </p:txBody>
      </p:sp>
      <p:cxnSp>
        <p:nvCxnSpPr>
          <p:cNvPr id="166" name="Google Shape;166;p7"/>
          <p:cNvCxnSpPr>
            <a:stCxn id="153" idx="2"/>
            <a:endCxn id="156" idx="0"/>
          </p:cNvCxnSpPr>
          <p:nvPr/>
        </p:nvCxnSpPr>
        <p:spPr>
          <a:xfrm flipH="1">
            <a:off x="1043572" y="2637293"/>
            <a:ext cx="1337100" cy="734400"/>
          </a:xfrm>
          <a:prstGeom prst="straightConnector1">
            <a:avLst/>
          </a:prstGeom>
          <a:noFill/>
          <a:ln cap="flat" cmpd="sng" w="28575">
            <a:solidFill>
              <a:schemeClr val="accent1"/>
            </a:solidFill>
            <a:prstDash val="solid"/>
            <a:miter lim="800000"/>
            <a:headEnd len="sm" w="sm" type="none"/>
            <a:tailEnd len="sm" w="sm" type="none"/>
          </a:ln>
        </p:spPr>
      </p:cxnSp>
      <p:cxnSp>
        <p:nvCxnSpPr>
          <p:cNvPr id="167" name="Google Shape;167;p7"/>
          <p:cNvCxnSpPr>
            <a:stCxn id="153" idx="2"/>
            <a:endCxn id="157" idx="0"/>
          </p:cNvCxnSpPr>
          <p:nvPr/>
        </p:nvCxnSpPr>
        <p:spPr>
          <a:xfrm>
            <a:off x="2380673" y="2637293"/>
            <a:ext cx="375300" cy="745200"/>
          </a:xfrm>
          <a:prstGeom prst="straightConnector1">
            <a:avLst/>
          </a:prstGeom>
          <a:noFill/>
          <a:ln cap="flat" cmpd="sng" w="28575">
            <a:solidFill>
              <a:schemeClr val="accent1"/>
            </a:solidFill>
            <a:prstDash val="solid"/>
            <a:miter lim="800000"/>
            <a:headEnd len="sm" w="sm" type="none"/>
            <a:tailEnd len="sm" w="sm" type="none"/>
          </a:ln>
        </p:spPr>
      </p:cxnSp>
      <p:cxnSp>
        <p:nvCxnSpPr>
          <p:cNvPr id="168" name="Google Shape;168;p7"/>
          <p:cNvCxnSpPr>
            <a:stCxn id="154" idx="2"/>
            <a:endCxn id="161" idx="0"/>
          </p:cNvCxnSpPr>
          <p:nvPr/>
        </p:nvCxnSpPr>
        <p:spPr>
          <a:xfrm>
            <a:off x="6724037" y="2637236"/>
            <a:ext cx="0" cy="688200"/>
          </a:xfrm>
          <a:prstGeom prst="straightConnector1">
            <a:avLst/>
          </a:prstGeom>
          <a:noFill/>
          <a:ln cap="flat" cmpd="sng" w="28575">
            <a:solidFill>
              <a:schemeClr val="accent1"/>
            </a:solidFill>
            <a:prstDash val="solid"/>
            <a:miter lim="800000"/>
            <a:headEnd len="sm" w="sm" type="none"/>
            <a:tailEnd len="sm" w="sm" type="none"/>
          </a:ln>
        </p:spPr>
      </p:cxnSp>
      <p:cxnSp>
        <p:nvCxnSpPr>
          <p:cNvPr id="169" name="Google Shape;169;p7"/>
          <p:cNvCxnSpPr>
            <a:stCxn id="155" idx="2"/>
            <a:endCxn id="165" idx="0"/>
          </p:cNvCxnSpPr>
          <p:nvPr/>
        </p:nvCxnSpPr>
        <p:spPr>
          <a:xfrm>
            <a:off x="9691255" y="2637293"/>
            <a:ext cx="0" cy="1611600"/>
          </a:xfrm>
          <a:prstGeom prst="straightConnector1">
            <a:avLst/>
          </a:prstGeom>
          <a:noFill/>
          <a:ln cap="flat" cmpd="sng" w="28575">
            <a:solidFill>
              <a:schemeClr val="accent1"/>
            </a:solidFill>
            <a:prstDash val="solid"/>
            <a:miter lim="800000"/>
            <a:headEnd len="sm" w="sm" type="none"/>
            <a:tailEnd len="sm" w="sm" type="none"/>
          </a:ln>
        </p:spPr>
      </p:cxnSp>
      <p:sp>
        <p:nvSpPr>
          <p:cNvPr id="170" name="Google Shape;170;p7"/>
          <p:cNvSpPr txBox="1"/>
          <p:nvPr/>
        </p:nvSpPr>
        <p:spPr>
          <a:xfrm>
            <a:off x="3712525" y="4298159"/>
            <a:ext cx="1514765" cy="646331"/>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Matched pairs t-test (Ch 17)</a:t>
            </a:r>
            <a:endParaRPr/>
          </a:p>
        </p:txBody>
      </p:sp>
      <p:sp>
        <p:nvSpPr>
          <p:cNvPr id="171" name="Google Shape;171;p7"/>
          <p:cNvSpPr txBox="1"/>
          <p:nvPr/>
        </p:nvSpPr>
        <p:spPr>
          <a:xfrm>
            <a:off x="3670962" y="3429000"/>
            <a:ext cx="151476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Paired data</a:t>
            </a:r>
            <a:endParaRPr/>
          </a:p>
        </p:txBody>
      </p:sp>
      <p:cxnSp>
        <p:nvCxnSpPr>
          <p:cNvPr id="172" name="Google Shape;172;p7"/>
          <p:cNvCxnSpPr>
            <a:stCxn id="153" idx="2"/>
            <a:endCxn id="171" idx="0"/>
          </p:cNvCxnSpPr>
          <p:nvPr/>
        </p:nvCxnSpPr>
        <p:spPr>
          <a:xfrm>
            <a:off x="2380673" y="2637293"/>
            <a:ext cx="2047800" cy="791700"/>
          </a:xfrm>
          <a:prstGeom prst="straightConnector1">
            <a:avLst/>
          </a:prstGeom>
          <a:noFill/>
          <a:ln cap="flat" cmpd="sng" w="28575">
            <a:solidFill>
              <a:schemeClr val="accent1"/>
            </a:solidFill>
            <a:prstDash val="solid"/>
            <a:miter lim="800000"/>
            <a:headEnd len="sm" w="sm" type="none"/>
            <a:tailEnd len="sm" w="sm" type="none"/>
          </a:ln>
        </p:spPr>
      </p:cxnSp>
      <p:sp>
        <p:nvSpPr>
          <p:cNvPr id="173" name="Google Shape;173;p7"/>
          <p:cNvSpPr txBox="1"/>
          <p:nvPr/>
        </p:nvSpPr>
        <p:spPr>
          <a:xfrm>
            <a:off x="3712524" y="5167312"/>
            <a:ext cx="1514765" cy="954107"/>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Non-parametric alternative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Wilcoxon sign-rank test</a:t>
            </a:r>
            <a:endParaRPr/>
          </a:p>
        </p:txBody>
      </p:sp>
      <p:sp>
        <p:nvSpPr>
          <p:cNvPr id="174" name="Google Shape;174;p7"/>
          <p:cNvSpPr txBox="1"/>
          <p:nvPr/>
        </p:nvSpPr>
        <p:spPr>
          <a:xfrm>
            <a:off x="8933838" y="5167311"/>
            <a:ext cx="1514700" cy="138540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Non-parametric alternative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Kruskal Wallis test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Permutation (not covered)</a:t>
            </a:r>
            <a:endParaRPr/>
          </a:p>
        </p:txBody>
      </p:sp>
      <p:sp>
        <p:nvSpPr>
          <p:cNvPr id="175" name="Google Shape;175;p7"/>
          <p:cNvSpPr txBox="1"/>
          <p:nvPr/>
        </p:nvSpPr>
        <p:spPr>
          <a:xfrm>
            <a:off x="5966687" y="5382755"/>
            <a:ext cx="1514765" cy="1384995"/>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Non-parametric alternative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Wilcoxon Rank-Sum test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Permutation tests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If you have binary data, single variable:</a:t>
            </a:r>
            <a:endParaRPr/>
          </a:p>
        </p:txBody>
      </p:sp>
      <p:sp>
        <p:nvSpPr>
          <p:cNvPr id="181" name="Google Shape;181;p8"/>
          <p:cNvSpPr txBox="1"/>
          <p:nvPr/>
        </p:nvSpPr>
        <p:spPr>
          <a:xfrm>
            <a:off x="5116945" y="1690688"/>
            <a:ext cx="2115128"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How many samples?</a:t>
            </a:r>
            <a:endParaRPr/>
          </a:p>
        </p:txBody>
      </p:sp>
      <p:sp>
        <p:nvSpPr>
          <p:cNvPr id="182" name="Google Shape;182;p8"/>
          <p:cNvSpPr txBox="1"/>
          <p:nvPr/>
        </p:nvSpPr>
        <p:spPr>
          <a:xfrm>
            <a:off x="1676400" y="2267961"/>
            <a:ext cx="1408545"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One sample</a:t>
            </a:r>
            <a:endParaRPr/>
          </a:p>
        </p:txBody>
      </p:sp>
      <p:sp>
        <p:nvSpPr>
          <p:cNvPr id="183" name="Google Shape;183;p8"/>
          <p:cNvSpPr txBox="1"/>
          <p:nvPr/>
        </p:nvSpPr>
        <p:spPr>
          <a:xfrm>
            <a:off x="5467924" y="2267961"/>
            <a:ext cx="1408545"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Two samples</a:t>
            </a:r>
            <a:endParaRPr/>
          </a:p>
        </p:txBody>
      </p:sp>
      <p:sp>
        <p:nvSpPr>
          <p:cNvPr id="184" name="Google Shape;184;p8"/>
          <p:cNvSpPr txBox="1"/>
          <p:nvPr/>
        </p:nvSpPr>
        <p:spPr>
          <a:xfrm>
            <a:off x="9074728" y="2267961"/>
            <a:ext cx="1233054" cy="369332"/>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&gt;2 samples</a:t>
            </a:r>
            <a:endParaRPr/>
          </a:p>
        </p:txBody>
      </p:sp>
      <p:cxnSp>
        <p:nvCxnSpPr>
          <p:cNvPr id="185" name="Google Shape;185;p8"/>
          <p:cNvCxnSpPr>
            <a:stCxn id="181" idx="2"/>
            <a:endCxn id="183" idx="0"/>
          </p:cNvCxnSpPr>
          <p:nvPr/>
        </p:nvCxnSpPr>
        <p:spPr>
          <a:xfrm flipH="1">
            <a:off x="6172109" y="2060020"/>
            <a:ext cx="2400" cy="207900"/>
          </a:xfrm>
          <a:prstGeom prst="straightConnector1">
            <a:avLst/>
          </a:prstGeom>
          <a:noFill/>
          <a:ln cap="flat" cmpd="sng" w="28575">
            <a:solidFill>
              <a:schemeClr val="accent1"/>
            </a:solidFill>
            <a:prstDash val="solid"/>
            <a:miter lim="800000"/>
            <a:headEnd len="sm" w="sm" type="none"/>
            <a:tailEnd len="sm" w="sm" type="none"/>
          </a:ln>
        </p:spPr>
      </p:cxnSp>
      <p:cxnSp>
        <p:nvCxnSpPr>
          <p:cNvPr id="186" name="Google Shape;186;p8"/>
          <p:cNvCxnSpPr>
            <a:stCxn id="181" idx="2"/>
            <a:endCxn id="184" idx="0"/>
          </p:cNvCxnSpPr>
          <p:nvPr/>
        </p:nvCxnSpPr>
        <p:spPr>
          <a:xfrm>
            <a:off x="6174509" y="2060020"/>
            <a:ext cx="3516600" cy="207900"/>
          </a:xfrm>
          <a:prstGeom prst="straightConnector1">
            <a:avLst/>
          </a:prstGeom>
          <a:noFill/>
          <a:ln cap="flat" cmpd="sng" w="28575">
            <a:solidFill>
              <a:schemeClr val="accent1"/>
            </a:solidFill>
            <a:prstDash val="solid"/>
            <a:miter lim="800000"/>
            <a:headEnd len="sm" w="sm" type="none"/>
            <a:tailEnd len="sm" w="sm" type="none"/>
          </a:ln>
        </p:spPr>
      </p:cxnSp>
      <p:cxnSp>
        <p:nvCxnSpPr>
          <p:cNvPr id="187" name="Google Shape;187;p8"/>
          <p:cNvCxnSpPr/>
          <p:nvPr/>
        </p:nvCxnSpPr>
        <p:spPr>
          <a:xfrm flipH="1">
            <a:off x="2380673" y="2060020"/>
            <a:ext cx="3793836" cy="207941"/>
          </a:xfrm>
          <a:prstGeom prst="straightConnector1">
            <a:avLst/>
          </a:prstGeom>
          <a:noFill/>
          <a:ln cap="flat" cmpd="sng" w="28575">
            <a:solidFill>
              <a:schemeClr val="accent1"/>
            </a:solidFill>
            <a:prstDash val="solid"/>
            <a:miter lim="800000"/>
            <a:headEnd len="sm" w="sm" type="none"/>
            <a:tailEnd len="sm" w="sm" type="none"/>
          </a:ln>
        </p:spPr>
      </p:cxnSp>
      <p:sp>
        <p:nvSpPr>
          <p:cNvPr id="188" name="Google Shape;188;p8"/>
          <p:cNvSpPr txBox="1"/>
          <p:nvPr/>
        </p:nvSpPr>
        <p:spPr>
          <a:xfrm>
            <a:off x="1623289" y="3214566"/>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One sample z-test for a proportion (Ch 19)</a:t>
            </a:r>
            <a:endParaRPr/>
          </a:p>
        </p:txBody>
      </p:sp>
      <p:sp>
        <p:nvSpPr>
          <p:cNvPr id="189" name="Google Shape;189;p8"/>
          <p:cNvSpPr txBox="1"/>
          <p:nvPr/>
        </p:nvSpPr>
        <p:spPr>
          <a:xfrm>
            <a:off x="4657431" y="3593255"/>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Two sample z-test for proportions (Ch 20)</a:t>
            </a:r>
            <a:endParaRPr/>
          </a:p>
        </p:txBody>
      </p:sp>
      <p:sp>
        <p:nvSpPr>
          <p:cNvPr id="190" name="Google Shape;190;p8"/>
          <p:cNvSpPr txBox="1"/>
          <p:nvPr/>
        </p:nvSpPr>
        <p:spPr>
          <a:xfrm>
            <a:off x="6657103" y="3593255"/>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Chi-square test for independence (Ch 22)</a:t>
            </a:r>
            <a:endParaRPr/>
          </a:p>
        </p:txBody>
      </p:sp>
      <p:sp>
        <p:nvSpPr>
          <p:cNvPr id="191" name="Google Shape;191;p8"/>
          <p:cNvSpPr txBox="1"/>
          <p:nvPr/>
        </p:nvSpPr>
        <p:spPr>
          <a:xfrm>
            <a:off x="8933872" y="3219640"/>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Chi-square test for independence(Ch 22)</a:t>
            </a:r>
            <a:endParaRPr/>
          </a:p>
        </p:txBody>
      </p:sp>
      <p:cxnSp>
        <p:nvCxnSpPr>
          <p:cNvPr id="192" name="Google Shape;192;p8"/>
          <p:cNvCxnSpPr>
            <a:endCxn id="188" idx="0"/>
          </p:cNvCxnSpPr>
          <p:nvPr/>
        </p:nvCxnSpPr>
        <p:spPr>
          <a:xfrm>
            <a:off x="2380672" y="2637366"/>
            <a:ext cx="0" cy="577200"/>
          </a:xfrm>
          <a:prstGeom prst="straightConnector1">
            <a:avLst/>
          </a:prstGeom>
          <a:noFill/>
          <a:ln cap="flat" cmpd="sng" w="28575">
            <a:solidFill>
              <a:schemeClr val="accent1"/>
            </a:solidFill>
            <a:prstDash val="solid"/>
            <a:miter lim="800000"/>
            <a:headEnd len="sm" w="sm" type="none"/>
            <a:tailEnd len="sm" w="sm" type="none"/>
          </a:ln>
        </p:spPr>
      </p:cxnSp>
      <p:cxnSp>
        <p:nvCxnSpPr>
          <p:cNvPr id="193" name="Google Shape;193;p8"/>
          <p:cNvCxnSpPr>
            <a:endCxn id="189" idx="0"/>
          </p:cNvCxnSpPr>
          <p:nvPr/>
        </p:nvCxnSpPr>
        <p:spPr>
          <a:xfrm>
            <a:off x="5414814" y="3223955"/>
            <a:ext cx="0" cy="369300"/>
          </a:xfrm>
          <a:prstGeom prst="straightConnector1">
            <a:avLst/>
          </a:prstGeom>
          <a:noFill/>
          <a:ln cap="flat" cmpd="sng" w="28575">
            <a:solidFill>
              <a:schemeClr val="accent1"/>
            </a:solidFill>
            <a:prstDash val="solid"/>
            <a:miter lim="800000"/>
            <a:headEnd len="sm" w="sm" type="none"/>
            <a:tailEnd len="sm" w="sm" type="none"/>
          </a:ln>
        </p:spPr>
      </p:cxnSp>
      <p:cxnSp>
        <p:nvCxnSpPr>
          <p:cNvPr id="194" name="Google Shape;194;p8"/>
          <p:cNvCxnSpPr/>
          <p:nvPr/>
        </p:nvCxnSpPr>
        <p:spPr>
          <a:xfrm flipH="1" rot="10800000">
            <a:off x="5414813" y="3214565"/>
            <a:ext cx="1978324" cy="9358"/>
          </a:xfrm>
          <a:prstGeom prst="straightConnector1">
            <a:avLst/>
          </a:prstGeom>
          <a:noFill/>
          <a:ln cap="flat" cmpd="sng" w="28575">
            <a:solidFill>
              <a:schemeClr val="accent1"/>
            </a:solidFill>
            <a:prstDash val="solid"/>
            <a:miter lim="800000"/>
            <a:headEnd len="sm" w="sm" type="none"/>
            <a:tailEnd len="sm" w="sm" type="none"/>
          </a:ln>
        </p:spPr>
      </p:cxnSp>
      <p:cxnSp>
        <p:nvCxnSpPr>
          <p:cNvPr id="195" name="Google Shape;195;p8"/>
          <p:cNvCxnSpPr/>
          <p:nvPr/>
        </p:nvCxnSpPr>
        <p:spPr>
          <a:xfrm flipH="1">
            <a:off x="9691254" y="2637292"/>
            <a:ext cx="2" cy="577273"/>
          </a:xfrm>
          <a:prstGeom prst="straightConnector1">
            <a:avLst/>
          </a:prstGeom>
          <a:noFill/>
          <a:ln cap="flat" cmpd="sng" w="28575">
            <a:solidFill>
              <a:schemeClr val="accent1"/>
            </a:solidFill>
            <a:prstDash val="solid"/>
            <a:miter lim="800000"/>
            <a:headEnd len="sm" w="sm" type="none"/>
            <a:tailEnd len="sm" w="sm" type="none"/>
          </a:ln>
        </p:spPr>
      </p:cxnSp>
      <p:cxnSp>
        <p:nvCxnSpPr>
          <p:cNvPr id="196" name="Google Shape;196;p8"/>
          <p:cNvCxnSpPr/>
          <p:nvPr/>
        </p:nvCxnSpPr>
        <p:spPr>
          <a:xfrm>
            <a:off x="7393136" y="3214565"/>
            <a:ext cx="1" cy="369332"/>
          </a:xfrm>
          <a:prstGeom prst="straightConnector1">
            <a:avLst/>
          </a:prstGeom>
          <a:noFill/>
          <a:ln cap="flat" cmpd="sng" w="28575">
            <a:solidFill>
              <a:schemeClr val="accent1"/>
            </a:solidFill>
            <a:prstDash val="solid"/>
            <a:miter lim="800000"/>
            <a:headEnd len="sm" w="sm" type="none"/>
            <a:tailEnd len="sm" w="sm" type="none"/>
          </a:ln>
        </p:spPr>
      </p:cxnSp>
      <p:cxnSp>
        <p:nvCxnSpPr>
          <p:cNvPr id="197" name="Google Shape;197;p8"/>
          <p:cNvCxnSpPr/>
          <p:nvPr/>
        </p:nvCxnSpPr>
        <p:spPr>
          <a:xfrm>
            <a:off x="6254757" y="2637292"/>
            <a:ext cx="0" cy="586631"/>
          </a:xfrm>
          <a:prstGeom prst="straightConnector1">
            <a:avLst/>
          </a:prstGeom>
          <a:noFill/>
          <a:ln cap="flat" cmpd="sng" w="28575">
            <a:solidFill>
              <a:schemeClr val="accent1"/>
            </a:solidFill>
            <a:prstDash val="solid"/>
            <a:miter lim="800000"/>
            <a:headEnd len="sm" w="sm" type="none"/>
            <a:tailEnd len="sm" w="sm" type="none"/>
          </a:ln>
        </p:spPr>
      </p:cxnSp>
      <p:sp>
        <p:nvSpPr>
          <p:cNvPr id="198" name="Google Shape;198;p8"/>
          <p:cNvSpPr txBox="1"/>
          <p:nvPr/>
        </p:nvSpPr>
        <p:spPr>
          <a:xfrm>
            <a:off x="5814428" y="2925928"/>
            <a:ext cx="19252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equivalent</a:t>
            </a:r>
            <a:endParaRPr/>
          </a:p>
        </p:txBody>
      </p:sp>
      <p:sp>
        <p:nvSpPr>
          <p:cNvPr id="199" name="Google Shape;199;p8"/>
          <p:cNvSpPr txBox="1"/>
          <p:nvPr/>
        </p:nvSpPr>
        <p:spPr>
          <a:xfrm>
            <a:off x="1211115" y="4590040"/>
            <a:ext cx="2339112" cy="1169551"/>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Four CI methods: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Large sample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Plus four</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Clopper Pearson/Exact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Wilson Score</a:t>
            </a:r>
            <a:endParaRPr/>
          </a:p>
        </p:txBody>
      </p:sp>
      <p:sp>
        <p:nvSpPr>
          <p:cNvPr id="200" name="Google Shape;200;p8"/>
          <p:cNvSpPr txBox="1"/>
          <p:nvPr/>
        </p:nvSpPr>
        <p:spPr>
          <a:xfrm>
            <a:off x="4163339" y="4931044"/>
            <a:ext cx="2339112" cy="738664"/>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Two CI methods: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Large sample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Plus four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If you have categorical data (&gt;2 levels), single variable:</a:t>
            </a:r>
            <a:endParaRPr/>
          </a:p>
        </p:txBody>
      </p:sp>
      <p:sp>
        <p:nvSpPr>
          <p:cNvPr id="206" name="Google Shape;206;p9"/>
          <p:cNvSpPr txBox="1"/>
          <p:nvPr/>
        </p:nvSpPr>
        <p:spPr>
          <a:xfrm>
            <a:off x="5062538" y="2225024"/>
            <a:ext cx="2067000" cy="9234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Counts/percentages for one categorical variable</a:t>
            </a:r>
            <a:endParaRPr/>
          </a:p>
        </p:txBody>
      </p:sp>
      <p:sp>
        <p:nvSpPr>
          <p:cNvPr id="207" name="Google Shape;207;p9"/>
          <p:cNvSpPr txBox="1"/>
          <p:nvPr/>
        </p:nvSpPr>
        <p:spPr>
          <a:xfrm>
            <a:off x="5338616" y="3929996"/>
            <a:ext cx="1514700" cy="12006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Chi-square test for goodness of fit (Ch 21)</a:t>
            </a:r>
            <a:endParaRPr/>
          </a:p>
        </p:txBody>
      </p:sp>
      <p:cxnSp>
        <p:nvCxnSpPr>
          <p:cNvPr id="208" name="Google Shape;208;p9"/>
          <p:cNvCxnSpPr>
            <a:stCxn id="206" idx="2"/>
          </p:cNvCxnSpPr>
          <p:nvPr/>
        </p:nvCxnSpPr>
        <p:spPr>
          <a:xfrm>
            <a:off x="6096038" y="3148424"/>
            <a:ext cx="0" cy="781500"/>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a3f8e4e8e2_0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Two Variable Methods</a:t>
            </a:r>
            <a:endParaRPr/>
          </a:p>
        </p:txBody>
      </p:sp>
      <p:pic>
        <p:nvPicPr>
          <p:cNvPr id="215" name="Google Shape;215;g3a3f8e4e8e2_0_24" title="two-var-methods.jpg"/>
          <p:cNvPicPr preferRelativeResize="0"/>
          <p:nvPr/>
        </p:nvPicPr>
        <p:blipFill>
          <a:blip r:embed="rId3">
            <a:alphaModFix/>
          </a:blip>
          <a:stretch>
            <a:fillRect/>
          </a:stretch>
        </p:blipFill>
        <p:spPr>
          <a:xfrm>
            <a:off x="838200" y="1501025"/>
            <a:ext cx="10126126" cy="4262075"/>
          </a:xfrm>
          <a:prstGeom prst="rect">
            <a:avLst/>
          </a:prstGeom>
          <a:noFill/>
          <a:ln>
            <a:noFill/>
          </a:ln>
        </p:spPr>
      </p:pic>
      <p:sp>
        <p:nvSpPr>
          <p:cNvPr id="216" name="Google Shape;216;g3a3f8e4e8e2_0_24"/>
          <p:cNvSpPr txBox="1"/>
          <p:nvPr/>
        </p:nvSpPr>
        <p:spPr>
          <a:xfrm>
            <a:off x="9582700" y="5825050"/>
            <a:ext cx="2452200" cy="7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Baldi &amp; Moore</a:t>
            </a:r>
            <a:endParaRPr sz="2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ad023627c5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What if you have two variables?</a:t>
            </a:r>
            <a:endParaRPr/>
          </a:p>
        </p:txBody>
      </p:sp>
      <p:sp>
        <p:nvSpPr>
          <p:cNvPr id="223" name="Google Shape;223;g3ad023627c5_0_0"/>
          <p:cNvSpPr txBox="1"/>
          <p:nvPr/>
        </p:nvSpPr>
        <p:spPr>
          <a:xfrm>
            <a:off x="4990083" y="2174374"/>
            <a:ext cx="2067000" cy="14775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Counts/percentages for contingency table of two categorical variables</a:t>
            </a:r>
            <a:endParaRPr/>
          </a:p>
        </p:txBody>
      </p:sp>
      <p:sp>
        <p:nvSpPr>
          <p:cNvPr id="224" name="Google Shape;224;g3ad023627c5_0_0"/>
          <p:cNvSpPr txBox="1"/>
          <p:nvPr/>
        </p:nvSpPr>
        <p:spPr>
          <a:xfrm>
            <a:off x="8204536" y="2293142"/>
            <a:ext cx="2067000" cy="9234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One categorical variable and one continuous variable</a:t>
            </a:r>
            <a:endParaRPr/>
          </a:p>
        </p:txBody>
      </p:sp>
      <p:sp>
        <p:nvSpPr>
          <p:cNvPr id="225" name="Google Shape;225;g3ad023627c5_0_0"/>
          <p:cNvSpPr txBox="1"/>
          <p:nvPr/>
        </p:nvSpPr>
        <p:spPr>
          <a:xfrm>
            <a:off x="5266162" y="3882681"/>
            <a:ext cx="1514700" cy="12006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Chi-square test for independence (Ch 22)</a:t>
            </a:r>
            <a:endParaRPr/>
          </a:p>
        </p:txBody>
      </p:sp>
      <p:sp>
        <p:nvSpPr>
          <p:cNvPr id="226" name="Google Shape;226;g3ad023627c5_0_0"/>
          <p:cNvSpPr txBox="1"/>
          <p:nvPr/>
        </p:nvSpPr>
        <p:spPr>
          <a:xfrm>
            <a:off x="7723234" y="3919413"/>
            <a:ext cx="1514700" cy="6465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ANOVA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(Ch 24)</a:t>
            </a:r>
            <a:endParaRPr/>
          </a:p>
        </p:txBody>
      </p:sp>
      <p:sp>
        <p:nvSpPr>
          <p:cNvPr id="227" name="Google Shape;227;g3ad023627c5_0_0"/>
          <p:cNvSpPr txBox="1"/>
          <p:nvPr/>
        </p:nvSpPr>
        <p:spPr>
          <a:xfrm>
            <a:off x="9455054" y="3901496"/>
            <a:ext cx="1514700" cy="14775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Regression with categorical x variable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(no Chapter)</a:t>
            </a:r>
            <a:endParaRPr/>
          </a:p>
        </p:txBody>
      </p:sp>
      <p:cxnSp>
        <p:nvCxnSpPr>
          <p:cNvPr id="228" name="Google Shape;228;g3ad023627c5_0_0"/>
          <p:cNvCxnSpPr>
            <a:endCxn id="225" idx="0"/>
          </p:cNvCxnSpPr>
          <p:nvPr/>
        </p:nvCxnSpPr>
        <p:spPr>
          <a:xfrm>
            <a:off x="6023512" y="3633381"/>
            <a:ext cx="0" cy="249300"/>
          </a:xfrm>
          <a:prstGeom prst="straightConnector1">
            <a:avLst/>
          </a:prstGeom>
          <a:noFill/>
          <a:ln cap="flat" cmpd="sng" w="28575">
            <a:solidFill>
              <a:schemeClr val="accent1"/>
            </a:solidFill>
            <a:prstDash val="solid"/>
            <a:miter lim="800000"/>
            <a:headEnd len="sm" w="sm" type="none"/>
            <a:tailEnd len="sm" w="sm" type="none"/>
          </a:ln>
        </p:spPr>
      </p:cxnSp>
      <p:cxnSp>
        <p:nvCxnSpPr>
          <p:cNvPr id="229" name="Google Shape;229;g3ad023627c5_0_0"/>
          <p:cNvCxnSpPr>
            <a:stCxn id="224" idx="2"/>
            <a:endCxn id="226" idx="0"/>
          </p:cNvCxnSpPr>
          <p:nvPr/>
        </p:nvCxnSpPr>
        <p:spPr>
          <a:xfrm flipH="1">
            <a:off x="8480536" y="3216542"/>
            <a:ext cx="757500" cy="702900"/>
          </a:xfrm>
          <a:prstGeom prst="straightConnector1">
            <a:avLst/>
          </a:prstGeom>
          <a:noFill/>
          <a:ln cap="flat" cmpd="sng" w="28575">
            <a:solidFill>
              <a:schemeClr val="accent1"/>
            </a:solidFill>
            <a:prstDash val="solid"/>
            <a:miter lim="800000"/>
            <a:headEnd len="sm" w="sm" type="none"/>
            <a:tailEnd len="sm" w="sm" type="none"/>
          </a:ln>
        </p:spPr>
      </p:cxnSp>
      <p:cxnSp>
        <p:nvCxnSpPr>
          <p:cNvPr id="230" name="Google Shape;230;g3ad023627c5_0_0"/>
          <p:cNvCxnSpPr>
            <a:stCxn id="224" idx="2"/>
            <a:endCxn id="227" idx="0"/>
          </p:cNvCxnSpPr>
          <p:nvPr/>
        </p:nvCxnSpPr>
        <p:spPr>
          <a:xfrm>
            <a:off x="9238036" y="3216542"/>
            <a:ext cx="974400" cy="684900"/>
          </a:xfrm>
          <a:prstGeom prst="straightConnector1">
            <a:avLst/>
          </a:prstGeom>
          <a:noFill/>
          <a:ln cap="flat" cmpd="sng" w="28575">
            <a:solidFill>
              <a:schemeClr val="accent1"/>
            </a:solidFill>
            <a:prstDash val="solid"/>
            <a:miter lim="800000"/>
            <a:headEnd len="sm" w="sm" type="none"/>
            <a:tailEnd len="sm" w="sm" type="none"/>
          </a:ln>
        </p:spPr>
      </p:cxnSp>
      <p:sp>
        <p:nvSpPr>
          <p:cNvPr id="231" name="Google Shape;231;g3ad023627c5_0_0"/>
          <p:cNvSpPr txBox="1"/>
          <p:nvPr/>
        </p:nvSpPr>
        <p:spPr>
          <a:xfrm>
            <a:off x="5266162" y="5356674"/>
            <a:ext cx="1514700" cy="954300"/>
          </a:xfrm>
          <a:prstGeom prst="rect">
            <a:avLst/>
          </a:prstGeom>
          <a:solidFill>
            <a:srgbClr val="FFFF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Non-parametric alternative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Permutation test</a:t>
            </a:r>
            <a:endParaRPr/>
          </a:p>
        </p:txBody>
      </p:sp>
      <p:sp>
        <p:nvSpPr>
          <p:cNvPr id="232" name="Google Shape;232;g3ad023627c5_0_0"/>
          <p:cNvSpPr txBox="1"/>
          <p:nvPr/>
        </p:nvSpPr>
        <p:spPr>
          <a:xfrm>
            <a:off x="1364158" y="2174374"/>
            <a:ext cx="2067000" cy="646500"/>
          </a:xfrm>
          <a:prstGeom prst="rect">
            <a:avLst/>
          </a:prstGeom>
          <a:solidFill>
            <a:srgbClr val="BBD6EE"/>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wo continuous variables</a:t>
            </a:r>
            <a:endParaRPr/>
          </a:p>
        </p:txBody>
      </p:sp>
      <p:sp>
        <p:nvSpPr>
          <p:cNvPr id="233" name="Google Shape;233;g3ad023627c5_0_0"/>
          <p:cNvSpPr txBox="1"/>
          <p:nvPr/>
        </p:nvSpPr>
        <p:spPr>
          <a:xfrm>
            <a:off x="1640237" y="3882681"/>
            <a:ext cx="1514700" cy="92340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Inference for Regression</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(Ch 23)</a:t>
            </a:r>
            <a:endParaRPr/>
          </a:p>
        </p:txBody>
      </p:sp>
      <p:cxnSp>
        <p:nvCxnSpPr>
          <p:cNvPr id="234" name="Google Shape;234;g3ad023627c5_0_0"/>
          <p:cNvCxnSpPr>
            <a:stCxn id="232" idx="2"/>
            <a:endCxn id="233" idx="0"/>
          </p:cNvCxnSpPr>
          <p:nvPr/>
        </p:nvCxnSpPr>
        <p:spPr>
          <a:xfrm>
            <a:off x="2397658" y="2820874"/>
            <a:ext cx="0" cy="1061700"/>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ad023627c5_0_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Two variable analysis table</a:t>
            </a:r>
            <a:endParaRPr/>
          </a:p>
        </p:txBody>
      </p:sp>
      <p:graphicFrame>
        <p:nvGraphicFramePr>
          <p:cNvPr id="241" name="Google Shape;241;g3ad023627c5_0_19"/>
          <p:cNvGraphicFramePr/>
          <p:nvPr/>
        </p:nvGraphicFramePr>
        <p:xfrm>
          <a:off x="838200" y="1690825"/>
          <a:ext cx="3000000" cy="3000000"/>
        </p:xfrm>
        <a:graphic>
          <a:graphicData uri="http://schemas.openxmlformats.org/drawingml/2006/table">
            <a:tbl>
              <a:tblPr>
                <a:noFill/>
                <a:tableStyleId>{C827E3F8-6EE5-49A7-B1F4-4F738B535FD2}</a:tableStyleId>
              </a:tblPr>
              <a:tblGrid>
                <a:gridCol w="1237875"/>
                <a:gridCol w="1486000"/>
                <a:gridCol w="4212375"/>
                <a:gridCol w="3963850"/>
              </a:tblGrid>
              <a:tr h="7192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800">
                          <a:solidFill>
                            <a:schemeClr val="dk1"/>
                          </a:solidFill>
                        </a:rPr>
                        <a:t>Explanatory Variable</a:t>
                      </a:r>
                      <a:endParaRPr sz="1800">
                        <a:solidFill>
                          <a:schemeClr val="dk1"/>
                        </a:solidFill>
                      </a:endParaRPr>
                    </a:p>
                    <a:p>
                      <a:pPr indent="0" lvl="0" marL="0" rtl="0" algn="l">
                        <a:spcBef>
                          <a:spcPts val="0"/>
                        </a:spcBef>
                        <a:spcAft>
                          <a:spcPts val="0"/>
                        </a:spcAft>
                        <a:buNone/>
                      </a:pPr>
                      <a:r>
                        <a:t/>
                      </a:r>
                      <a:endParaRPr sz="1800"/>
                    </a:p>
                  </a:txBody>
                  <a:tcPr marT="91425" marB="91425" marR="91425" marL="91425">
                    <a:solidFill>
                      <a:srgbClr val="FF0000"/>
                    </a:solidFill>
                  </a:tcPr>
                </a:tc>
                <a:tc>
                  <a:txBody>
                    <a:bodyPr/>
                    <a:lstStyle/>
                    <a:p>
                      <a:pPr indent="0" lvl="0" marL="0" rtl="0" algn="l">
                        <a:spcBef>
                          <a:spcPts val="0"/>
                        </a:spcBef>
                        <a:spcAft>
                          <a:spcPts val="0"/>
                        </a:spcAft>
                        <a:buNone/>
                      </a:pPr>
                      <a:r>
                        <a:t/>
                      </a:r>
                      <a:endParaRPr sz="1800"/>
                    </a:p>
                  </a:txBody>
                  <a:tcPr marT="91425" marB="91425" marR="91425" marL="91425">
                    <a:solidFill>
                      <a:srgbClr val="FF0000"/>
                    </a:solidFill>
                  </a:tcPr>
                </a:tc>
              </a:tr>
              <a:tr h="467475">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US" sz="1800"/>
                        <a:t>Quantitative</a:t>
                      </a:r>
                      <a:endParaRPr sz="1800"/>
                    </a:p>
                  </a:txBody>
                  <a:tcPr marT="91425" marB="91425" marR="91425" marL="91425">
                    <a:solidFill>
                      <a:srgbClr val="FF0000"/>
                    </a:solidFill>
                  </a:tcPr>
                </a:tc>
                <a:tc>
                  <a:txBody>
                    <a:bodyPr/>
                    <a:lstStyle/>
                    <a:p>
                      <a:pPr indent="0" lvl="0" marL="0" rtl="0" algn="l">
                        <a:spcBef>
                          <a:spcPts val="0"/>
                        </a:spcBef>
                        <a:spcAft>
                          <a:spcPts val="0"/>
                        </a:spcAft>
                        <a:buNone/>
                      </a:pPr>
                      <a:r>
                        <a:rPr lang="en-US" sz="1800"/>
                        <a:t>Categorical</a:t>
                      </a:r>
                      <a:endParaRPr sz="1800"/>
                    </a:p>
                  </a:txBody>
                  <a:tcPr marT="91425" marB="91425" marR="91425" marL="91425">
                    <a:solidFill>
                      <a:srgbClr val="FF0000"/>
                    </a:solidFill>
                  </a:tcPr>
                </a:tc>
              </a:tr>
              <a:tr h="1853850">
                <a:tc>
                  <a:txBody>
                    <a:bodyPr/>
                    <a:lstStyle/>
                    <a:p>
                      <a:pPr indent="0" lvl="0" marL="0" rtl="0" algn="l">
                        <a:spcBef>
                          <a:spcPts val="0"/>
                        </a:spcBef>
                        <a:spcAft>
                          <a:spcPts val="0"/>
                        </a:spcAft>
                        <a:buNone/>
                      </a:pPr>
                      <a:r>
                        <a:rPr lang="en-US" sz="1800">
                          <a:solidFill>
                            <a:schemeClr val="dk1"/>
                          </a:solidFill>
                        </a:rPr>
                        <a:t>Response</a:t>
                      </a:r>
                      <a:endParaRPr sz="1800">
                        <a:solidFill>
                          <a:schemeClr val="dk1"/>
                        </a:solidFill>
                      </a:endParaRPr>
                    </a:p>
                    <a:p>
                      <a:pPr indent="0" lvl="0" marL="0" rtl="0" algn="l">
                        <a:spcBef>
                          <a:spcPts val="0"/>
                        </a:spcBef>
                        <a:spcAft>
                          <a:spcPts val="0"/>
                        </a:spcAft>
                        <a:buClr>
                          <a:schemeClr val="dk1"/>
                        </a:buClr>
                        <a:buSzPts val="1100"/>
                        <a:buFont typeface="Arial"/>
                        <a:buNone/>
                      </a:pPr>
                      <a:r>
                        <a:rPr lang="en-US" sz="1800">
                          <a:solidFill>
                            <a:schemeClr val="dk1"/>
                          </a:solidFill>
                        </a:rPr>
                        <a:t>Variable</a:t>
                      </a:r>
                      <a:endParaRPr sz="1800">
                        <a:solidFill>
                          <a:schemeClr val="dk1"/>
                        </a:solidFill>
                      </a:endParaRPr>
                    </a:p>
                    <a:p>
                      <a:pPr indent="0" lvl="0" marL="0" rtl="0" algn="l">
                        <a:spcBef>
                          <a:spcPts val="0"/>
                        </a:spcBef>
                        <a:spcAft>
                          <a:spcPts val="0"/>
                        </a:spcAft>
                        <a:buNone/>
                      </a:pPr>
                      <a:r>
                        <a:t/>
                      </a:r>
                      <a:endParaRPr sz="1800"/>
                    </a:p>
                  </a:txBody>
                  <a:tcPr marT="91425" marB="91425" marR="91425" marL="91425">
                    <a:solidFill>
                      <a:srgbClr val="00FF00"/>
                    </a:solidFill>
                  </a:tcPr>
                </a:tc>
                <a:tc>
                  <a:txBody>
                    <a:bodyPr/>
                    <a:lstStyle/>
                    <a:p>
                      <a:pPr indent="0" lvl="0" marL="0" rtl="0" algn="l">
                        <a:spcBef>
                          <a:spcPts val="0"/>
                        </a:spcBef>
                        <a:spcAft>
                          <a:spcPts val="0"/>
                        </a:spcAft>
                        <a:buNone/>
                      </a:pPr>
                      <a:r>
                        <a:rPr lang="en-US" sz="1800"/>
                        <a:t>Quantitative</a:t>
                      </a:r>
                      <a:endParaRPr sz="1800"/>
                    </a:p>
                  </a:txBody>
                  <a:tcPr marT="91425" marB="91425" marR="91425" marL="91425">
                    <a:solidFill>
                      <a:srgbClr val="00FF00"/>
                    </a:solidFill>
                  </a:tcPr>
                </a:tc>
                <a:tc>
                  <a:txBody>
                    <a:bodyPr/>
                    <a:lstStyle/>
                    <a:p>
                      <a:pPr indent="0" lvl="0" marL="0" rtl="0" algn="l">
                        <a:spcBef>
                          <a:spcPts val="0"/>
                        </a:spcBef>
                        <a:spcAft>
                          <a:spcPts val="0"/>
                        </a:spcAft>
                        <a:buNone/>
                      </a:pPr>
                      <a:r>
                        <a:t/>
                      </a:r>
                      <a:endParaRPr sz="1800"/>
                    </a:p>
                    <a:p>
                      <a:pPr indent="0" lvl="0" marL="0" rtl="0" algn="ctr">
                        <a:spcBef>
                          <a:spcPts val="0"/>
                        </a:spcBef>
                        <a:spcAft>
                          <a:spcPts val="0"/>
                        </a:spcAft>
                        <a:buNone/>
                      </a:pPr>
                      <a:r>
                        <a:rPr b="1" lang="en-US" sz="2000"/>
                        <a:t>Regression</a:t>
                      </a:r>
                      <a:endParaRPr b="1" sz="2000"/>
                    </a:p>
                  </a:txBody>
                  <a:tcPr marT="91425" marB="91425" marR="91425" marL="91425"/>
                </a:tc>
                <a:tc>
                  <a:txBody>
                    <a:bodyPr/>
                    <a:lstStyle/>
                    <a:p>
                      <a:pPr indent="0" lvl="0" marL="0" rtl="0" algn="l">
                        <a:spcBef>
                          <a:spcPts val="0"/>
                        </a:spcBef>
                        <a:spcAft>
                          <a:spcPts val="0"/>
                        </a:spcAft>
                        <a:buNone/>
                      </a:pPr>
                      <a:r>
                        <a:t/>
                      </a:r>
                      <a:endParaRPr sz="1800"/>
                    </a:p>
                    <a:p>
                      <a:pPr indent="0" lvl="0" marL="0" rtl="0" algn="ctr">
                        <a:spcBef>
                          <a:spcPts val="0"/>
                        </a:spcBef>
                        <a:spcAft>
                          <a:spcPts val="0"/>
                        </a:spcAft>
                        <a:buNone/>
                      </a:pPr>
                      <a:r>
                        <a:rPr b="1" lang="en-US" sz="2000"/>
                        <a:t>One-Way ANOVA</a:t>
                      </a:r>
                      <a:endParaRPr b="1" sz="2000"/>
                    </a:p>
                    <a:p>
                      <a:pPr indent="0" lvl="0" marL="0" rtl="0" algn="ctr">
                        <a:spcBef>
                          <a:spcPts val="0"/>
                        </a:spcBef>
                        <a:spcAft>
                          <a:spcPts val="0"/>
                        </a:spcAft>
                        <a:buNone/>
                      </a:pPr>
                      <a:r>
                        <a:t/>
                      </a:r>
                      <a:endParaRPr b="1" sz="2000"/>
                    </a:p>
                    <a:p>
                      <a:pPr indent="0" lvl="0" marL="0" rtl="0" algn="ctr">
                        <a:spcBef>
                          <a:spcPts val="0"/>
                        </a:spcBef>
                        <a:spcAft>
                          <a:spcPts val="0"/>
                        </a:spcAft>
                        <a:buNone/>
                      </a:pPr>
                      <a:r>
                        <a:rPr b="1" lang="en-US" sz="2000"/>
                        <a:t>Regression with Categorical Explanatory Variable</a:t>
                      </a:r>
                      <a:endParaRPr b="1" sz="2000"/>
                    </a:p>
                  </a:txBody>
                  <a:tcPr marT="91425" marB="91425" marR="91425" marL="91425"/>
                </a:tc>
              </a:tr>
              <a:tr h="2149075">
                <a:tc>
                  <a:txBody>
                    <a:bodyPr/>
                    <a:lstStyle/>
                    <a:p>
                      <a:pPr indent="0" lvl="0" marL="0" rtl="0" algn="l">
                        <a:spcBef>
                          <a:spcPts val="0"/>
                        </a:spcBef>
                        <a:spcAft>
                          <a:spcPts val="0"/>
                        </a:spcAft>
                        <a:buNone/>
                      </a:pPr>
                      <a:r>
                        <a:t/>
                      </a:r>
                      <a:endParaRPr sz="1800"/>
                    </a:p>
                  </a:txBody>
                  <a:tcPr marT="91425" marB="91425" marR="91425" marL="91425">
                    <a:solidFill>
                      <a:srgbClr val="00FF00"/>
                    </a:solidFill>
                  </a:tcPr>
                </a:tc>
                <a:tc>
                  <a:txBody>
                    <a:bodyPr/>
                    <a:lstStyle/>
                    <a:p>
                      <a:pPr indent="0" lvl="0" marL="0" rtl="0" algn="l">
                        <a:spcBef>
                          <a:spcPts val="0"/>
                        </a:spcBef>
                        <a:spcAft>
                          <a:spcPts val="0"/>
                        </a:spcAft>
                        <a:buNone/>
                      </a:pPr>
                      <a:r>
                        <a:rPr lang="en-US" sz="1800"/>
                        <a:t>Categorical</a:t>
                      </a:r>
                      <a:endParaRPr sz="1800"/>
                    </a:p>
                  </a:txBody>
                  <a:tcPr marT="91425" marB="91425" marR="91425" marL="91425">
                    <a:solidFill>
                      <a:srgbClr val="00FF00"/>
                    </a:solidFill>
                  </a:tcPr>
                </a:tc>
                <a:tc>
                  <a:txBody>
                    <a:bodyPr/>
                    <a:lstStyle/>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lang="en-US" sz="1800"/>
                        <a:t>(not covered)</a:t>
                      </a:r>
                      <a:endParaRPr sz="1800"/>
                    </a:p>
                  </a:txBody>
                  <a:tcPr marT="91425" marB="91425" marR="91425" marL="91425"/>
                </a:tc>
                <a:tc>
                  <a:txBody>
                    <a:bodyPr/>
                    <a:lstStyle/>
                    <a:p>
                      <a:pPr indent="0" lvl="0" marL="0" rtl="0" algn="l">
                        <a:spcBef>
                          <a:spcPts val="0"/>
                        </a:spcBef>
                        <a:spcAft>
                          <a:spcPts val="0"/>
                        </a:spcAft>
                        <a:buNone/>
                      </a:pPr>
                      <a:r>
                        <a:t/>
                      </a:r>
                      <a:endParaRPr sz="1800"/>
                    </a:p>
                    <a:p>
                      <a:pPr indent="0" lvl="0" marL="0" rtl="0" algn="ctr">
                        <a:spcBef>
                          <a:spcPts val="0"/>
                        </a:spcBef>
                        <a:spcAft>
                          <a:spcPts val="0"/>
                        </a:spcAft>
                        <a:buNone/>
                      </a:pPr>
                      <a:r>
                        <a:rPr b="1" lang="en-US" sz="2000"/>
                        <a:t>Two-Way Chi Square </a:t>
                      </a:r>
                      <a:endParaRPr b="1" sz="2000"/>
                    </a:p>
                    <a:p>
                      <a:pPr indent="0" lvl="0" marL="0" rtl="0" algn="ctr">
                        <a:spcBef>
                          <a:spcPts val="0"/>
                        </a:spcBef>
                        <a:spcAft>
                          <a:spcPts val="0"/>
                        </a:spcAft>
                        <a:buNone/>
                      </a:pPr>
                      <a:r>
                        <a:rPr b="1" lang="en-US" sz="2000"/>
                        <a:t>Test of Independence</a:t>
                      </a:r>
                      <a:endParaRPr b="1" sz="2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about inference for regression</a:t>
            </a:r>
            <a:endParaRPr/>
          </a:p>
        </p:txBody>
      </p:sp>
      <p:sp>
        <p:nvSpPr>
          <p:cNvPr id="247" name="Google Shape;247;p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Continuous data</a:t>
            </a:r>
            <a:endParaRPr/>
          </a:p>
          <a:p>
            <a:pPr indent="-228600" lvl="0" marL="228600" rtl="0" algn="l">
              <a:lnSpc>
                <a:spcPct val="90000"/>
              </a:lnSpc>
              <a:spcBef>
                <a:spcPts val="1000"/>
              </a:spcBef>
              <a:spcAft>
                <a:spcPts val="0"/>
              </a:spcAft>
              <a:buClr>
                <a:schemeClr val="dk1"/>
              </a:buClr>
              <a:buSzPts val="2800"/>
              <a:buChar char="•"/>
            </a:pPr>
            <a:r>
              <a:rPr lang="en-US"/>
              <a:t>One sample</a:t>
            </a:r>
            <a:endParaRPr/>
          </a:p>
          <a:p>
            <a:pPr indent="-228600" lvl="0" marL="228600" rtl="0" algn="l">
              <a:lnSpc>
                <a:spcPct val="90000"/>
              </a:lnSpc>
              <a:spcBef>
                <a:spcPts val="1000"/>
              </a:spcBef>
              <a:spcAft>
                <a:spcPts val="0"/>
              </a:spcAft>
              <a:buClr>
                <a:schemeClr val="dk1"/>
              </a:buClr>
              <a:buSzPts val="2800"/>
              <a:buChar char="•"/>
            </a:pPr>
            <a:r>
              <a:rPr lang="en-US"/>
              <a:t>Two continuous variables: an explanatory variable x and a response variable y</a:t>
            </a:r>
            <a:endParaRPr/>
          </a:p>
        </p:txBody>
      </p:sp>
      <p:sp>
        <p:nvSpPr>
          <p:cNvPr id="248" name="Google Shape;248;p10"/>
          <p:cNvSpPr txBox="1"/>
          <p:nvPr/>
        </p:nvSpPr>
        <p:spPr>
          <a:xfrm>
            <a:off x="930562" y="4001294"/>
            <a:ext cx="1514765" cy="92333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t-test for the regression slope (Ch 23)</a:t>
            </a:r>
            <a:endParaRPr/>
          </a:p>
        </p:txBody>
      </p:sp>
      <p:sp>
        <p:nvSpPr>
          <p:cNvPr id="249" name="Google Shape;249;p10"/>
          <p:cNvSpPr txBox="1"/>
          <p:nvPr/>
        </p:nvSpPr>
        <p:spPr>
          <a:xfrm>
            <a:off x="930562" y="5253633"/>
            <a:ext cx="1514765" cy="92333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t-test for correlation (Ch 23)</a:t>
            </a:r>
            <a:endParaRPr/>
          </a:p>
        </p:txBody>
      </p:sp>
      <p:sp>
        <p:nvSpPr>
          <p:cNvPr id="250" name="Google Shape;250;p10"/>
          <p:cNvSpPr txBox="1"/>
          <p:nvPr/>
        </p:nvSpPr>
        <p:spPr>
          <a:xfrm>
            <a:off x="2452252" y="5192078"/>
            <a:ext cx="300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We didn’t cover this because it is </a:t>
            </a:r>
            <a:r>
              <a:rPr lang="en-US">
                <a:solidFill>
                  <a:schemeClr val="dk1"/>
                </a:solidFill>
                <a:latin typeface="Calibri"/>
                <a:ea typeface="Calibri"/>
                <a:cs typeface="Calibri"/>
                <a:sym typeface="Calibri"/>
              </a:rPr>
              <a:t>redundant </a:t>
            </a:r>
            <a:r>
              <a:rPr lang="en-US" sz="1400">
                <a:solidFill>
                  <a:schemeClr val="dk1"/>
                </a:solidFill>
                <a:latin typeface="Calibri"/>
                <a:ea typeface="Calibri"/>
                <a:cs typeface="Calibri"/>
                <a:sym typeface="Calibri"/>
              </a:rPr>
              <a:t>to the test for slope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1: Which test to perform?</a:t>
            </a:r>
            <a:endParaRPr/>
          </a:p>
        </p:txBody>
      </p:sp>
      <p:sp>
        <p:nvSpPr>
          <p:cNvPr id="257" name="Google Shape;25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 amygdala is a brain structure involved in the processing of memory of emotional reactions. Ten subjects were shown emotional video clips. They had their brains scanned and their memory of the clips assessed. The first three rows of the data frame looks like this: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What type of data do you have?</a:t>
            </a:r>
            <a:endParaRPr/>
          </a:p>
          <a:p>
            <a:pPr indent="-228600" lvl="0" marL="228600" rtl="0" algn="l">
              <a:lnSpc>
                <a:spcPct val="90000"/>
              </a:lnSpc>
              <a:spcBef>
                <a:spcPts val="1000"/>
              </a:spcBef>
              <a:spcAft>
                <a:spcPts val="0"/>
              </a:spcAft>
              <a:buClr>
                <a:schemeClr val="dk1"/>
              </a:buClr>
              <a:buSzPts val="2800"/>
              <a:buChar char="•"/>
            </a:pPr>
            <a:r>
              <a:rPr lang="en-US"/>
              <a:t>How many samples?</a:t>
            </a:r>
            <a:endParaRPr/>
          </a:p>
          <a:p>
            <a:pPr indent="-228600" lvl="0" marL="228600" rtl="0" algn="l">
              <a:lnSpc>
                <a:spcPct val="90000"/>
              </a:lnSpc>
              <a:spcBef>
                <a:spcPts val="1000"/>
              </a:spcBef>
              <a:spcAft>
                <a:spcPts val="0"/>
              </a:spcAft>
              <a:buClr>
                <a:schemeClr val="dk1"/>
              </a:buClr>
              <a:buSzPts val="2800"/>
              <a:buChar char="•"/>
            </a:pPr>
            <a:r>
              <a:rPr lang="en-US"/>
              <a:t>How many variables?</a:t>
            </a:r>
            <a:endParaRPr/>
          </a:p>
          <a:p>
            <a:pPr indent="-50800" lvl="0" marL="228600" rtl="0" algn="l">
              <a:lnSpc>
                <a:spcPct val="90000"/>
              </a:lnSpc>
              <a:spcBef>
                <a:spcPts val="1000"/>
              </a:spcBef>
              <a:spcAft>
                <a:spcPts val="0"/>
              </a:spcAft>
              <a:buClr>
                <a:schemeClr val="dk1"/>
              </a:buClr>
              <a:buSzPts val="2800"/>
              <a:buNone/>
            </a:pPr>
            <a:r>
              <a:t/>
            </a:r>
            <a:endParaRPr/>
          </a:p>
        </p:txBody>
      </p:sp>
      <p:graphicFrame>
        <p:nvGraphicFramePr>
          <p:cNvPr id="258" name="Google Shape;258;p11"/>
          <p:cNvGraphicFramePr/>
          <p:nvPr/>
        </p:nvGraphicFramePr>
        <p:xfrm>
          <a:off x="1121064" y="3594894"/>
          <a:ext cx="3000000" cy="3000000"/>
        </p:xfrm>
        <a:graphic>
          <a:graphicData uri="http://schemas.openxmlformats.org/drawingml/2006/table">
            <a:tbl>
              <a:tblPr>
                <a:noFill/>
                <a:tableStyleId>{7C20AF67-AB53-4517-99BE-E3E2463129E6}</a:tableStyleId>
              </a:tblPr>
              <a:tblGrid>
                <a:gridCol w="1230125"/>
                <a:gridCol w="979675"/>
              </a:tblGrid>
              <a:tr h="203200">
                <a:tc>
                  <a:txBody>
                    <a:bodyPr/>
                    <a:lstStyle/>
                    <a:p>
                      <a:pPr indent="0" lvl="0" marL="0" marR="0" rtl="0" algn="ctr">
                        <a:spcBef>
                          <a:spcPts val="0"/>
                        </a:spcBef>
                        <a:spcAft>
                          <a:spcPts val="0"/>
                        </a:spcAft>
                        <a:buNone/>
                      </a:pPr>
                      <a:r>
                        <a:rPr lang="en-US" sz="1200" u="none" cap="none" strike="noStrike"/>
                        <a:t>Relative activity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Memory score</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-0.417</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31</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-0.258</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29</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-0.234</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29</a:t>
                      </a:r>
                      <a:endParaRPr b="0" i="0" sz="1200" u="none" cap="none" strike="noStrike">
                        <a:solidFill>
                          <a:srgbClr val="000000"/>
                        </a:solidFill>
                        <a:latin typeface="Calibri"/>
                        <a:ea typeface="Calibri"/>
                        <a:cs typeface="Calibri"/>
                        <a:sym typeface="Calibri"/>
                      </a:endParaRPr>
                    </a:p>
                  </a:txBody>
                  <a:tcPr marT="9525" marB="0" marR="9525" marL="9525" anchor="b"/>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62" name="Shape 262"/>
        <p:cNvGrpSpPr/>
        <p:nvPr/>
      </p:nvGrpSpPr>
      <p:grpSpPr>
        <a:xfrm>
          <a:off x="0" y="0"/>
          <a:ext cx="0" cy="0"/>
          <a:chOff x="0" y="0"/>
          <a:chExt cx="0" cy="0"/>
        </a:xfrm>
      </p:grpSpPr>
      <p:sp>
        <p:nvSpPr>
          <p:cNvPr id="263" name="Google Shape;26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1: Which test to perform? (From Ch 23)</a:t>
            </a:r>
            <a:endParaRPr/>
          </a:p>
        </p:txBody>
      </p:sp>
      <p:sp>
        <p:nvSpPr>
          <p:cNvPr id="264" name="Google Shape;264;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Continuous data</a:t>
            </a:r>
            <a:endParaRPr/>
          </a:p>
          <a:p>
            <a:pPr indent="-228600" lvl="0" marL="228600" rtl="0" algn="l">
              <a:lnSpc>
                <a:spcPct val="90000"/>
              </a:lnSpc>
              <a:spcBef>
                <a:spcPts val="1000"/>
              </a:spcBef>
              <a:spcAft>
                <a:spcPts val="0"/>
              </a:spcAft>
              <a:buClr>
                <a:schemeClr val="dk1"/>
              </a:buClr>
              <a:buSzPct val="100000"/>
              <a:buChar char="•"/>
            </a:pPr>
            <a:r>
              <a:rPr lang="en-US"/>
              <a:t>One sample (on ten participants)</a:t>
            </a:r>
            <a:endParaRPr/>
          </a:p>
          <a:p>
            <a:pPr indent="-228600" lvl="0" marL="228600" rtl="0" algn="l">
              <a:lnSpc>
                <a:spcPct val="90000"/>
              </a:lnSpc>
              <a:spcBef>
                <a:spcPts val="1000"/>
              </a:spcBef>
              <a:spcAft>
                <a:spcPts val="0"/>
              </a:spcAft>
              <a:buClr>
                <a:schemeClr val="dk1"/>
              </a:buClr>
              <a:buSzPct val="100000"/>
              <a:buChar char="•"/>
            </a:pPr>
            <a:r>
              <a:rPr lang="en-US"/>
              <a:t>Two variables</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While it isn’t yet apparent (because a question wasn’t asked), this should signal linear regression because that is what we try when we have two continuous variables on one sample</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Questions that could be asked (if you had all the data):</a:t>
            </a:r>
            <a:endParaRPr/>
          </a:p>
          <a:p>
            <a:pPr indent="-228600" lvl="0" marL="228600" rtl="0" algn="l">
              <a:lnSpc>
                <a:spcPct val="90000"/>
              </a:lnSpc>
              <a:spcBef>
                <a:spcPts val="1000"/>
              </a:spcBef>
              <a:spcAft>
                <a:spcPts val="0"/>
              </a:spcAft>
              <a:buClr>
                <a:schemeClr val="dk1"/>
              </a:buClr>
              <a:buSzPct val="100000"/>
              <a:buChar char="•"/>
            </a:pPr>
            <a:r>
              <a:rPr lang="en-US"/>
              <a:t>Make a scatter plot. Does it appear linear? </a:t>
            </a:r>
            <a:endParaRPr/>
          </a:p>
          <a:p>
            <a:pPr indent="-228600" lvl="0" marL="228600" rtl="0" algn="l">
              <a:lnSpc>
                <a:spcPct val="90000"/>
              </a:lnSpc>
              <a:spcBef>
                <a:spcPts val="1000"/>
              </a:spcBef>
              <a:spcAft>
                <a:spcPts val="0"/>
              </a:spcAft>
              <a:buClr>
                <a:schemeClr val="dk1"/>
              </a:buClr>
              <a:buSzPct val="100000"/>
              <a:buChar char="•"/>
            </a:pPr>
            <a:r>
              <a:rPr lang="en-US"/>
              <a:t>Interpret the provided r or r</a:t>
            </a:r>
            <a:r>
              <a:rPr baseline="30000" lang="en-US"/>
              <a:t>2 </a:t>
            </a:r>
            <a:r>
              <a:rPr lang="en-US"/>
              <a:t>values.</a:t>
            </a:r>
            <a:endParaRPr/>
          </a:p>
          <a:p>
            <a:pPr indent="-228600" lvl="0" marL="228600" rtl="0" algn="l">
              <a:lnSpc>
                <a:spcPct val="90000"/>
              </a:lnSpc>
              <a:spcBef>
                <a:spcPts val="1000"/>
              </a:spcBef>
              <a:spcAft>
                <a:spcPts val="0"/>
              </a:spcAft>
              <a:buClr>
                <a:schemeClr val="dk1"/>
              </a:buClr>
              <a:buSzPct val="100000"/>
              <a:buChar char="•"/>
            </a:pPr>
            <a:r>
              <a:rPr lang="en-US"/>
              <a:t>Write code to test the slope coefficient. Write the null and alternative hypotheses for the corresponding test. Interpret the output from the test (including the p-value).</a:t>
            </a:r>
            <a:endParaRPr/>
          </a:p>
          <a:p>
            <a:pPr indent="-228600" lvl="0" marL="228600" rtl="0" algn="l">
              <a:lnSpc>
                <a:spcPct val="90000"/>
              </a:lnSpc>
              <a:spcBef>
                <a:spcPts val="1000"/>
              </a:spcBef>
              <a:spcAft>
                <a:spcPts val="0"/>
              </a:spcAft>
              <a:buClr>
                <a:schemeClr val="dk1"/>
              </a:buClr>
              <a:buSzPct val="100000"/>
              <a:buChar char="•"/>
            </a:pPr>
            <a:r>
              <a:rPr lang="en-US"/>
              <a:t>Assess the provided diagnostic plots. Does the data meet the assumptions?</a:t>
            </a:r>
            <a:endParaRPr/>
          </a:p>
        </p:txBody>
      </p:sp>
      <p:sp>
        <p:nvSpPr>
          <p:cNvPr id="265" name="Google Shape;265;p12"/>
          <p:cNvSpPr txBox="1"/>
          <p:nvPr/>
        </p:nvSpPr>
        <p:spPr>
          <a:xfrm>
            <a:off x="6096000" y="1696749"/>
            <a:ext cx="1514765" cy="923330"/>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t-test for the regression slope (Ch 23)</a:t>
            </a:r>
            <a:endParaRPr/>
          </a:p>
        </p:txBody>
      </p:sp>
      <p:sp>
        <p:nvSpPr>
          <p:cNvPr id="266" name="Google Shape;266;p12"/>
          <p:cNvSpPr/>
          <p:nvPr/>
        </p:nvSpPr>
        <p:spPr>
          <a:xfrm>
            <a:off x="4710545" y="1825625"/>
            <a:ext cx="1320800" cy="67743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2: Which test to perform?	</a:t>
            </a:r>
            <a:endParaRPr/>
          </a:p>
        </p:txBody>
      </p:sp>
      <p:sp>
        <p:nvSpPr>
          <p:cNvPr id="272" name="Google Shape;27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study investigated ways to prevent staph infections in surgery patients. In a first step, the researchers examined the nasal secretions of a random sample of 6771 patients admitted to various hospitals for surgery. They found that 1251 tested positive for </a:t>
            </a:r>
            <a:r>
              <a:rPr i="1" lang="en-US"/>
              <a:t>Staphylococcus aureus</a:t>
            </a:r>
            <a:r>
              <a:rPr lang="en-US"/>
              <a:t>, the bacterium responsible for most staph infections. </a:t>
            </a:r>
            <a:endParaRPr/>
          </a:p>
          <a:p>
            <a:pPr indent="-228600" lvl="1" marL="685800" rtl="0" algn="l">
              <a:lnSpc>
                <a:spcPct val="90000"/>
              </a:lnSpc>
              <a:spcBef>
                <a:spcPts val="500"/>
              </a:spcBef>
              <a:spcAft>
                <a:spcPts val="0"/>
              </a:spcAft>
              <a:buClr>
                <a:schemeClr val="dk1"/>
              </a:buClr>
              <a:buSzPts val="2400"/>
              <a:buChar char="•"/>
            </a:pPr>
            <a:r>
              <a:rPr lang="en-US"/>
              <a:t>What type of data do you have?</a:t>
            </a:r>
            <a:endParaRPr/>
          </a:p>
          <a:p>
            <a:pPr indent="-228600" lvl="1" marL="685800" rtl="0" algn="l">
              <a:lnSpc>
                <a:spcPct val="90000"/>
              </a:lnSpc>
              <a:spcBef>
                <a:spcPts val="500"/>
              </a:spcBef>
              <a:spcAft>
                <a:spcPts val="0"/>
              </a:spcAft>
              <a:buClr>
                <a:schemeClr val="dk1"/>
              </a:buClr>
              <a:buSzPts val="2400"/>
              <a:buChar char="•"/>
            </a:pPr>
            <a:r>
              <a:rPr lang="en-US"/>
              <a:t>How many samples?</a:t>
            </a:r>
            <a:endParaRPr/>
          </a:p>
          <a:p>
            <a:pPr indent="-228600" lvl="1" marL="685800" rtl="0" algn="l">
              <a:lnSpc>
                <a:spcPct val="90000"/>
              </a:lnSpc>
              <a:spcBef>
                <a:spcPts val="500"/>
              </a:spcBef>
              <a:spcAft>
                <a:spcPts val="0"/>
              </a:spcAft>
              <a:buClr>
                <a:schemeClr val="dk1"/>
              </a:buClr>
              <a:buSzPts val="2400"/>
              <a:buChar char="•"/>
            </a:pPr>
            <a:r>
              <a:rPr lang="en-US"/>
              <a:t>How many variables?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76" name="Shape 276"/>
        <p:cNvGrpSpPr/>
        <p:nvPr/>
      </p:nvGrpSpPr>
      <p:grpSpPr>
        <a:xfrm>
          <a:off x="0" y="0"/>
          <a:ext cx="0" cy="0"/>
          <a:chOff x="0" y="0"/>
          <a:chExt cx="0" cy="0"/>
        </a:xfrm>
      </p:grpSpPr>
      <p:sp>
        <p:nvSpPr>
          <p:cNvPr id="277" name="Google Shape;27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2: Which test to perform?	(Ch 19)</a:t>
            </a:r>
            <a:endParaRPr/>
          </a:p>
        </p:txBody>
      </p:sp>
      <p:sp>
        <p:nvSpPr>
          <p:cNvPr id="278" name="Google Shape;27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Binary data (staph or not)</a:t>
            </a:r>
            <a:endParaRPr/>
          </a:p>
          <a:p>
            <a:pPr indent="-228600" lvl="0" marL="228600" rtl="0" algn="l">
              <a:lnSpc>
                <a:spcPct val="90000"/>
              </a:lnSpc>
              <a:spcBef>
                <a:spcPts val="1000"/>
              </a:spcBef>
              <a:spcAft>
                <a:spcPts val="0"/>
              </a:spcAft>
              <a:buClr>
                <a:schemeClr val="dk1"/>
              </a:buClr>
              <a:buSzPct val="100000"/>
              <a:buChar char="•"/>
            </a:pPr>
            <a:r>
              <a:rPr lang="en-US"/>
              <a:t>One sample</a:t>
            </a:r>
            <a:endParaRPr/>
          </a:p>
          <a:p>
            <a:pPr indent="-228600" lvl="0" marL="228600" rtl="0" algn="l">
              <a:lnSpc>
                <a:spcPct val="90000"/>
              </a:lnSpc>
              <a:spcBef>
                <a:spcPts val="1000"/>
              </a:spcBef>
              <a:spcAft>
                <a:spcPts val="0"/>
              </a:spcAft>
              <a:buClr>
                <a:schemeClr val="dk1"/>
              </a:buClr>
              <a:buSzPct val="100000"/>
              <a:buChar char="•"/>
            </a:pPr>
            <a:r>
              <a:rPr lang="en-US"/>
              <a:t>One variable</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Questions that could be asked:</a:t>
            </a:r>
            <a:endParaRPr/>
          </a:p>
          <a:p>
            <a:pPr indent="-228600" lvl="0" marL="228600" rtl="0" algn="l">
              <a:lnSpc>
                <a:spcPct val="90000"/>
              </a:lnSpc>
              <a:spcBef>
                <a:spcPts val="1000"/>
              </a:spcBef>
              <a:spcAft>
                <a:spcPts val="0"/>
              </a:spcAft>
              <a:buClr>
                <a:schemeClr val="dk1"/>
              </a:buClr>
              <a:buSzPct val="100000"/>
              <a:buChar char="•"/>
            </a:pPr>
            <a:r>
              <a:rPr lang="en-US"/>
              <a:t>Perform the test (write your hypotheses, evaluate the assumptions, calculate the test statistic, write code to find the p-value, interpret the p-value</a:t>
            </a:r>
            <a:endParaRPr/>
          </a:p>
          <a:p>
            <a:pPr indent="-228600" lvl="0" marL="228600" rtl="0" algn="l">
              <a:lnSpc>
                <a:spcPct val="90000"/>
              </a:lnSpc>
              <a:spcBef>
                <a:spcPts val="1000"/>
              </a:spcBef>
              <a:spcAft>
                <a:spcPts val="0"/>
              </a:spcAft>
              <a:buClr>
                <a:schemeClr val="dk1"/>
              </a:buClr>
              <a:buSzPct val="100000"/>
              <a:buChar char="•"/>
            </a:pPr>
            <a:r>
              <a:rPr lang="en-US"/>
              <a:t>Calculate the confidence interval by hand using large sample or plus four method (when to use plus four method?). Write code for the other two methods</a:t>
            </a:r>
            <a:endParaRPr/>
          </a:p>
          <a:p>
            <a:pPr indent="-228600" lvl="0" marL="228600" rtl="0" algn="l">
              <a:lnSpc>
                <a:spcPct val="90000"/>
              </a:lnSpc>
              <a:spcBef>
                <a:spcPts val="1000"/>
              </a:spcBef>
              <a:spcAft>
                <a:spcPts val="0"/>
              </a:spcAft>
              <a:buClr>
                <a:schemeClr val="dk1"/>
              </a:buClr>
              <a:buSzPct val="100000"/>
              <a:buChar char="•"/>
            </a:pPr>
            <a:r>
              <a:rPr lang="en-US"/>
              <a:t>Evaluate the assumptions for using the method</a:t>
            </a:r>
            <a:endParaRPr/>
          </a:p>
          <a:p>
            <a:pPr indent="0" lvl="0" marL="0" rtl="0" algn="l">
              <a:lnSpc>
                <a:spcPct val="90000"/>
              </a:lnSpc>
              <a:spcBef>
                <a:spcPts val="1000"/>
              </a:spcBef>
              <a:spcAft>
                <a:spcPts val="0"/>
              </a:spcAft>
              <a:buClr>
                <a:schemeClr val="dk1"/>
              </a:buClr>
              <a:buSzPct val="100000"/>
              <a:buNone/>
            </a:pPr>
            <a:r>
              <a:t/>
            </a:r>
            <a:endParaRPr/>
          </a:p>
        </p:txBody>
      </p:sp>
      <p:sp>
        <p:nvSpPr>
          <p:cNvPr id="279" name="Google Shape;279;p14"/>
          <p:cNvSpPr/>
          <p:nvPr/>
        </p:nvSpPr>
        <p:spPr>
          <a:xfrm>
            <a:off x="5255490" y="2093480"/>
            <a:ext cx="1320800" cy="67743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4"/>
          <p:cNvSpPr txBox="1"/>
          <p:nvPr/>
        </p:nvSpPr>
        <p:spPr>
          <a:xfrm>
            <a:off x="6878780" y="1832030"/>
            <a:ext cx="1514765" cy="1200329"/>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One sample z-test for a proportion (Ch 19)</a:t>
            </a:r>
            <a:endParaRPr/>
          </a:p>
        </p:txBody>
      </p:sp>
      <p:sp>
        <p:nvSpPr>
          <p:cNvPr id="281" name="Google Shape;281;p14"/>
          <p:cNvSpPr txBox="1"/>
          <p:nvPr/>
        </p:nvSpPr>
        <p:spPr>
          <a:xfrm>
            <a:off x="8849587" y="1832030"/>
            <a:ext cx="2339112" cy="1169551"/>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Four CI methods: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Large sample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Plus four</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Clopper Pearson/Exact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Calibri"/>
                <a:ea typeface="Calibri"/>
                <a:cs typeface="Calibri"/>
                <a:sym typeface="Calibri"/>
              </a:rPr>
              <a:t>Wilson Score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3: Which test to perform</a:t>
            </a:r>
            <a:endParaRPr/>
          </a:p>
        </p:txBody>
      </p:sp>
      <p:sp>
        <p:nvSpPr>
          <p:cNvPr id="287" name="Google Shape;28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study on the effects of vaping classifies people as “never vapers”, “occasional vapers”, “frequent vapers”. You interview a sample of 150 people in each group and ask a questionnaire to derive a quantitative score (between 0 and 100) on stress levels. </a:t>
            </a:r>
            <a:endParaRPr/>
          </a:p>
          <a:p>
            <a:pPr indent="-228600" lvl="1" marL="685800" rtl="0" algn="l">
              <a:lnSpc>
                <a:spcPct val="90000"/>
              </a:lnSpc>
              <a:spcBef>
                <a:spcPts val="500"/>
              </a:spcBef>
              <a:spcAft>
                <a:spcPts val="0"/>
              </a:spcAft>
              <a:buClr>
                <a:schemeClr val="dk1"/>
              </a:buClr>
              <a:buSzPts val="2400"/>
              <a:buChar char="•"/>
            </a:pPr>
            <a:r>
              <a:rPr lang="en-US"/>
              <a:t>What type of data do you have?</a:t>
            </a:r>
            <a:endParaRPr/>
          </a:p>
          <a:p>
            <a:pPr indent="-228600" lvl="1" marL="685800" rtl="0" algn="l">
              <a:lnSpc>
                <a:spcPct val="90000"/>
              </a:lnSpc>
              <a:spcBef>
                <a:spcPts val="500"/>
              </a:spcBef>
              <a:spcAft>
                <a:spcPts val="0"/>
              </a:spcAft>
              <a:buClr>
                <a:schemeClr val="dk1"/>
              </a:buClr>
              <a:buSzPts val="2400"/>
              <a:buChar char="•"/>
            </a:pPr>
            <a:r>
              <a:rPr lang="en-US"/>
              <a:t>How many samples?</a:t>
            </a:r>
            <a:endParaRPr/>
          </a:p>
          <a:p>
            <a:pPr indent="-228600" lvl="1" marL="685800" rtl="0" algn="l">
              <a:lnSpc>
                <a:spcPct val="90000"/>
              </a:lnSpc>
              <a:spcBef>
                <a:spcPts val="500"/>
              </a:spcBef>
              <a:spcAft>
                <a:spcPts val="0"/>
              </a:spcAft>
              <a:buClr>
                <a:schemeClr val="dk1"/>
              </a:buClr>
              <a:buSzPts val="2400"/>
              <a:buChar char="•"/>
            </a:pPr>
            <a:r>
              <a:rPr lang="en-US"/>
              <a:t>How many variables?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91" name="Shape 291"/>
        <p:cNvGrpSpPr/>
        <p:nvPr/>
      </p:nvGrpSpPr>
      <p:grpSpPr>
        <a:xfrm>
          <a:off x="0" y="0"/>
          <a:ext cx="0" cy="0"/>
          <a:chOff x="0" y="0"/>
          <a:chExt cx="0" cy="0"/>
        </a:xfrm>
      </p:grpSpPr>
      <p:sp>
        <p:nvSpPr>
          <p:cNvPr id="292" name="Google Shape;29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3: Which test to perform (Ch 24)</a:t>
            </a:r>
            <a:endParaRPr/>
          </a:p>
        </p:txBody>
      </p:sp>
      <p:sp>
        <p:nvSpPr>
          <p:cNvPr id="293" name="Google Shape;293;p16"/>
          <p:cNvSpPr txBox="1"/>
          <p:nvPr>
            <p:ph idx="1" type="body"/>
          </p:nvPr>
        </p:nvSpPr>
        <p:spPr>
          <a:xfrm>
            <a:off x="838200" y="1825625"/>
            <a:ext cx="5257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have one categorical variable (level of vaping), and one continuous variable (stress level)</a:t>
            </a:r>
            <a:endParaRPr/>
          </a:p>
          <a:p>
            <a:pPr indent="-228600" lvl="0" marL="228600" rtl="0" algn="l">
              <a:lnSpc>
                <a:spcPct val="90000"/>
              </a:lnSpc>
              <a:spcBef>
                <a:spcPts val="1000"/>
              </a:spcBef>
              <a:spcAft>
                <a:spcPts val="0"/>
              </a:spcAft>
              <a:buClr>
                <a:schemeClr val="dk1"/>
              </a:buClr>
              <a:buSzPts val="2800"/>
              <a:buChar char="•"/>
            </a:pPr>
            <a:r>
              <a:rPr lang="en-US"/>
              <a:t>The categorical variable corresponds to three samples – one for each level of the category</a:t>
            </a:r>
            <a:endParaRPr/>
          </a:p>
          <a:p>
            <a:pPr indent="-228600" lvl="0" marL="228600" rtl="0" algn="l">
              <a:lnSpc>
                <a:spcPct val="90000"/>
              </a:lnSpc>
              <a:spcBef>
                <a:spcPts val="1000"/>
              </a:spcBef>
              <a:spcAft>
                <a:spcPts val="0"/>
              </a:spcAft>
              <a:buClr>
                <a:schemeClr val="dk1"/>
              </a:buClr>
              <a:buSzPts val="2800"/>
              <a:buChar char="•"/>
            </a:pPr>
            <a:r>
              <a:rPr lang="en-US"/>
              <a:t>Two variables: one categorical and one continuous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94" name="Google Shape;294;p16"/>
          <p:cNvSpPr txBox="1"/>
          <p:nvPr/>
        </p:nvSpPr>
        <p:spPr>
          <a:xfrm>
            <a:off x="8492850" y="2399778"/>
            <a:ext cx="1514765" cy="646331"/>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ANOVA (Ch 24)</a:t>
            </a:r>
            <a:endParaRPr/>
          </a:p>
        </p:txBody>
      </p:sp>
      <p:sp>
        <p:nvSpPr>
          <p:cNvPr id="295" name="Google Shape;295;p16"/>
          <p:cNvSpPr txBox="1"/>
          <p:nvPr/>
        </p:nvSpPr>
        <p:spPr>
          <a:xfrm>
            <a:off x="8492849" y="3429000"/>
            <a:ext cx="1514765" cy="1477328"/>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Regression with categorical x variable (no Chapter)</a:t>
            </a:r>
            <a:endParaRPr/>
          </a:p>
        </p:txBody>
      </p:sp>
      <p:sp>
        <p:nvSpPr>
          <p:cNvPr id="296" name="Google Shape;296;p16"/>
          <p:cNvSpPr/>
          <p:nvPr/>
        </p:nvSpPr>
        <p:spPr>
          <a:xfrm>
            <a:off x="6634025" y="2722944"/>
            <a:ext cx="1320800" cy="67743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6"/>
          <p:cNvSpPr txBox="1"/>
          <p:nvPr/>
        </p:nvSpPr>
        <p:spPr>
          <a:xfrm>
            <a:off x="8155709" y="1860567"/>
            <a:ext cx="25861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Either is appropriate: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02" name="Shape 302"/>
        <p:cNvGrpSpPr/>
        <p:nvPr/>
      </p:nvGrpSpPr>
      <p:grpSpPr>
        <a:xfrm>
          <a:off x="0" y="0"/>
          <a:ext cx="0" cy="0"/>
          <a:chOff x="0" y="0"/>
          <a:chExt cx="0" cy="0"/>
        </a:xfrm>
      </p:grpSpPr>
      <p:sp>
        <p:nvSpPr>
          <p:cNvPr id="303" name="Google Shape;30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3: Which test to perform (Ch 24)</a:t>
            </a:r>
            <a:endParaRPr/>
          </a:p>
        </p:txBody>
      </p:sp>
      <p:sp>
        <p:nvSpPr>
          <p:cNvPr id="304" name="Google Shape;30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Questions that could be asked:</a:t>
            </a:r>
            <a:endParaRPr/>
          </a:p>
          <a:p>
            <a:pPr indent="-228600" lvl="0" marL="228600" rtl="0" algn="l">
              <a:lnSpc>
                <a:spcPct val="90000"/>
              </a:lnSpc>
              <a:spcBef>
                <a:spcPts val="1000"/>
              </a:spcBef>
              <a:spcAft>
                <a:spcPts val="0"/>
              </a:spcAft>
              <a:buClr>
                <a:schemeClr val="dk1"/>
              </a:buClr>
              <a:buSzPts val="2800"/>
              <a:buChar char="•"/>
            </a:pPr>
            <a:r>
              <a:rPr lang="en-US"/>
              <a:t>State the null and alternative hypotheses for an ANOVA test</a:t>
            </a:r>
            <a:endParaRPr/>
          </a:p>
          <a:p>
            <a:pPr indent="-228600" lvl="0" marL="228600" rtl="0" algn="l">
              <a:lnSpc>
                <a:spcPct val="90000"/>
              </a:lnSpc>
              <a:spcBef>
                <a:spcPts val="1000"/>
              </a:spcBef>
              <a:spcAft>
                <a:spcPts val="0"/>
              </a:spcAft>
              <a:buClr>
                <a:schemeClr val="dk1"/>
              </a:buClr>
              <a:buSzPts val="2800"/>
              <a:buChar char="•"/>
            </a:pPr>
            <a:r>
              <a:rPr lang="en-US"/>
              <a:t>With more information, you could perform the ANOVA calculation, write code to perform the calculation or interpret the ANOVA R output</a:t>
            </a:r>
            <a:endParaRPr/>
          </a:p>
          <a:p>
            <a:pPr indent="-228600" lvl="0" marL="228600" rtl="0" algn="l">
              <a:lnSpc>
                <a:spcPct val="90000"/>
              </a:lnSpc>
              <a:spcBef>
                <a:spcPts val="1000"/>
              </a:spcBef>
              <a:spcAft>
                <a:spcPts val="0"/>
              </a:spcAft>
              <a:buClr>
                <a:schemeClr val="dk1"/>
              </a:buClr>
              <a:buSzPts val="2800"/>
              <a:buChar char="•"/>
            </a:pPr>
            <a:r>
              <a:rPr lang="en-US"/>
              <a:t>Write a model to perform regression with x as a categorical variable. </a:t>
            </a:r>
            <a:endParaRPr/>
          </a:p>
          <a:p>
            <a:pPr indent="-228600" lvl="0" marL="228600" rtl="0" algn="l">
              <a:lnSpc>
                <a:spcPct val="90000"/>
              </a:lnSpc>
              <a:spcBef>
                <a:spcPts val="1000"/>
              </a:spcBef>
              <a:spcAft>
                <a:spcPts val="0"/>
              </a:spcAft>
              <a:buClr>
                <a:schemeClr val="dk1"/>
              </a:buClr>
              <a:buSzPts val="2800"/>
              <a:buChar char="•"/>
            </a:pPr>
            <a:r>
              <a:rPr lang="en-US"/>
              <a:t>Interpret the output from a regression model performed on these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4: Which test to perform?</a:t>
            </a:r>
            <a:endParaRPr/>
          </a:p>
        </p:txBody>
      </p:sp>
      <p:sp>
        <p:nvSpPr>
          <p:cNvPr id="310" name="Google Shape;31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Essential tremor is a neurological movement disorder characterized by involuntary rhythmic movement that typically interferes with the full use of the arms and hands. A pilot experiment examining the effectiveness of a noninvasive handheld device using active cancellation of tremor technology to stabilize tremor-induced motion in patients diagnosed with essential tremor. Tremor amplitude was measured (in centimeters) for each of 11 subjects when performing a spoon-use tasks with the ACT device turned, in random order, once on and once off. </a:t>
            </a:r>
            <a:endParaRPr/>
          </a:p>
          <a:p>
            <a:pPr indent="-228600" lvl="1" marL="685800" rtl="0" algn="l">
              <a:lnSpc>
                <a:spcPct val="90000"/>
              </a:lnSpc>
              <a:spcBef>
                <a:spcPts val="500"/>
              </a:spcBef>
              <a:spcAft>
                <a:spcPts val="0"/>
              </a:spcAft>
              <a:buClr>
                <a:schemeClr val="dk1"/>
              </a:buClr>
              <a:buSzPts val="2400"/>
              <a:buChar char="•"/>
            </a:pPr>
            <a:r>
              <a:rPr lang="en-US"/>
              <a:t>What type of data do you have?</a:t>
            </a:r>
            <a:endParaRPr/>
          </a:p>
          <a:p>
            <a:pPr indent="-228600" lvl="1" marL="685800" rtl="0" algn="l">
              <a:lnSpc>
                <a:spcPct val="90000"/>
              </a:lnSpc>
              <a:spcBef>
                <a:spcPts val="500"/>
              </a:spcBef>
              <a:spcAft>
                <a:spcPts val="0"/>
              </a:spcAft>
              <a:buClr>
                <a:schemeClr val="dk1"/>
              </a:buClr>
              <a:buSzPts val="2400"/>
              <a:buChar char="•"/>
            </a:pPr>
            <a:r>
              <a:rPr lang="en-US"/>
              <a:t>How many samples?</a:t>
            </a:r>
            <a:endParaRPr/>
          </a:p>
          <a:p>
            <a:pPr indent="-228600" lvl="1" marL="685800" rtl="0" algn="l">
              <a:lnSpc>
                <a:spcPct val="90000"/>
              </a:lnSpc>
              <a:spcBef>
                <a:spcPts val="500"/>
              </a:spcBef>
              <a:spcAft>
                <a:spcPts val="0"/>
              </a:spcAft>
              <a:buClr>
                <a:schemeClr val="dk1"/>
              </a:buClr>
              <a:buSzPts val="2400"/>
              <a:buChar char="•"/>
            </a:pPr>
            <a:r>
              <a:rPr lang="en-US"/>
              <a:t>How many variables?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14" name="Shape 314"/>
        <p:cNvGrpSpPr/>
        <p:nvPr/>
      </p:nvGrpSpPr>
      <p:grpSpPr>
        <a:xfrm>
          <a:off x="0" y="0"/>
          <a:ext cx="0" cy="0"/>
          <a:chOff x="0" y="0"/>
          <a:chExt cx="0" cy="0"/>
        </a:xfrm>
      </p:grpSpPr>
      <p:sp>
        <p:nvSpPr>
          <p:cNvPr id="315" name="Google Shape;31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4: Which test to perform? (Ch 17)</a:t>
            </a:r>
            <a:endParaRPr/>
          </a:p>
        </p:txBody>
      </p:sp>
      <p:sp>
        <p:nvSpPr>
          <p:cNvPr id="316" name="Google Shape;31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Tremor amplitude is a continuous variable</a:t>
            </a:r>
            <a:endParaRPr/>
          </a:p>
          <a:p>
            <a:pPr indent="-228600" lvl="0" marL="228600" rtl="0" algn="l">
              <a:lnSpc>
                <a:spcPct val="90000"/>
              </a:lnSpc>
              <a:spcBef>
                <a:spcPts val="1000"/>
              </a:spcBef>
              <a:spcAft>
                <a:spcPts val="0"/>
              </a:spcAft>
              <a:buClr>
                <a:schemeClr val="dk1"/>
              </a:buClr>
              <a:buSzPct val="100000"/>
              <a:buChar char="•"/>
            </a:pPr>
            <a:r>
              <a:rPr lang="en-US"/>
              <a:t>One sample, but paired data (before and after)</a:t>
            </a:r>
            <a:endParaRPr/>
          </a:p>
          <a:p>
            <a:pPr indent="-228600" lvl="0" marL="228600" rtl="0" algn="l">
              <a:lnSpc>
                <a:spcPct val="90000"/>
              </a:lnSpc>
              <a:spcBef>
                <a:spcPts val="1000"/>
              </a:spcBef>
              <a:spcAft>
                <a:spcPts val="0"/>
              </a:spcAft>
              <a:buClr>
                <a:schemeClr val="dk1"/>
              </a:buClr>
              <a:buSzPct val="100000"/>
              <a:buChar char="•"/>
            </a:pPr>
            <a:r>
              <a:rPr lang="en-US"/>
              <a:t>If helpful, can think of “on” and “off” as a second, categorical variable.</a:t>
            </a:r>
            <a:endParaRPr/>
          </a:p>
          <a:p>
            <a:pPr indent="-7747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Questions that could be asked:</a:t>
            </a:r>
            <a:endParaRPr/>
          </a:p>
          <a:p>
            <a:pPr indent="-228600" lvl="0" marL="228600" rtl="0" algn="l">
              <a:lnSpc>
                <a:spcPct val="90000"/>
              </a:lnSpc>
              <a:spcBef>
                <a:spcPts val="1000"/>
              </a:spcBef>
              <a:spcAft>
                <a:spcPts val="0"/>
              </a:spcAft>
              <a:buClr>
                <a:schemeClr val="dk1"/>
              </a:buClr>
              <a:buSzPct val="100000"/>
              <a:buChar char="•"/>
            </a:pPr>
            <a:r>
              <a:rPr lang="en-US"/>
              <a:t>(If you had the data or some statistics): Perform the appropriate test. Write code for the p-value.</a:t>
            </a:r>
            <a:endParaRPr/>
          </a:p>
          <a:p>
            <a:pPr indent="-228600" lvl="0" marL="228600" rtl="0" algn="l">
              <a:lnSpc>
                <a:spcPct val="90000"/>
              </a:lnSpc>
              <a:spcBef>
                <a:spcPts val="1000"/>
              </a:spcBef>
              <a:spcAft>
                <a:spcPts val="0"/>
              </a:spcAft>
              <a:buClr>
                <a:schemeClr val="dk1"/>
              </a:buClr>
              <a:buSzPct val="100000"/>
              <a:buChar char="•"/>
            </a:pPr>
            <a:r>
              <a:rPr lang="en-US"/>
              <a:t>What is the key feature of these data that determines which test is appropriate?</a:t>
            </a:r>
            <a:endParaRPr/>
          </a:p>
          <a:p>
            <a:pPr indent="-228600" lvl="0" marL="228600" rtl="0" algn="l">
              <a:lnSpc>
                <a:spcPct val="90000"/>
              </a:lnSpc>
              <a:spcBef>
                <a:spcPts val="1000"/>
              </a:spcBef>
              <a:spcAft>
                <a:spcPts val="0"/>
              </a:spcAft>
              <a:buClr>
                <a:schemeClr val="dk1"/>
              </a:buClr>
              <a:buSzPct val="100000"/>
              <a:buChar char="•"/>
            </a:pPr>
            <a:r>
              <a:rPr lang="en-US"/>
              <a:t>How could you plot the data before performing the test to visualize the statistic of interest?</a:t>
            </a:r>
            <a:endParaRPr/>
          </a:p>
          <a:p>
            <a:pPr indent="-228600" lvl="0" marL="228600" rtl="0" algn="l">
              <a:lnSpc>
                <a:spcPct val="90000"/>
              </a:lnSpc>
              <a:spcBef>
                <a:spcPts val="1000"/>
              </a:spcBef>
              <a:spcAft>
                <a:spcPts val="0"/>
              </a:spcAft>
              <a:buClr>
                <a:schemeClr val="dk1"/>
              </a:buClr>
              <a:buSzPct val="100000"/>
              <a:buChar char="•"/>
            </a:pPr>
            <a:r>
              <a:rPr lang="en-US"/>
              <a:t>Define wash out period, and carry over effects. </a:t>
            </a:r>
            <a:endParaRPr/>
          </a:p>
        </p:txBody>
      </p:sp>
      <p:sp>
        <p:nvSpPr>
          <p:cNvPr id="317" name="Google Shape;317;p19"/>
          <p:cNvSpPr txBox="1"/>
          <p:nvPr/>
        </p:nvSpPr>
        <p:spPr>
          <a:xfrm>
            <a:off x="9398000" y="1856724"/>
            <a:ext cx="1514765" cy="646331"/>
          </a:xfrm>
          <a:prstGeom prst="rect">
            <a:avLst/>
          </a:prstGeom>
          <a:solidFill>
            <a:srgbClr val="C4E0B2"/>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Matched pairs t-test (Ch 17)</a:t>
            </a:r>
            <a:endParaRPr/>
          </a:p>
        </p:txBody>
      </p:sp>
      <p:sp>
        <p:nvSpPr>
          <p:cNvPr id="318" name="Google Shape;318;p19"/>
          <p:cNvSpPr/>
          <p:nvPr/>
        </p:nvSpPr>
        <p:spPr>
          <a:xfrm>
            <a:off x="7927116" y="1825625"/>
            <a:ext cx="1320800" cy="67743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5: Which test to perform?</a:t>
            </a:r>
            <a:endParaRPr/>
          </a:p>
        </p:txBody>
      </p:sp>
      <p:sp>
        <p:nvSpPr>
          <p:cNvPr id="324" name="Google Shape;32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 random sample of 700 births from local records shows this distribution across the days of the week. Do these data give evidence that local births are not equally likely on all days of the week?</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1" marL="685800" rtl="0" algn="l">
              <a:lnSpc>
                <a:spcPct val="90000"/>
              </a:lnSpc>
              <a:spcBef>
                <a:spcPts val="500"/>
              </a:spcBef>
              <a:spcAft>
                <a:spcPts val="0"/>
              </a:spcAft>
              <a:buClr>
                <a:schemeClr val="dk1"/>
              </a:buClr>
              <a:buSzPct val="100000"/>
              <a:buChar char="•"/>
            </a:pPr>
            <a:r>
              <a:rPr lang="en-US"/>
              <a:t>What type of data do you have?</a:t>
            </a:r>
            <a:endParaRPr/>
          </a:p>
          <a:p>
            <a:pPr indent="-228600" lvl="1" marL="685800" rtl="0" algn="l">
              <a:lnSpc>
                <a:spcPct val="90000"/>
              </a:lnSpc>
              <a:spcBef>
                <a:spcPts val="500"/>
              </a:spcBef>
              <a:spcAft>
                <a:spcPts val="0"/>
              </a:spcAft>
              <a:buClr>
                <a:schemeClr val="dk1"/>
              </a:buClr>
              <a:buSzPct val="100000"/>
              <a:buChar char="•"/>
            </a:pPr>
            <a:r>
              <a:rPr lang="en-US"/>
              <a:t>How many samples?</a:t>
            </a:r>
            <a:endParaRPr/>
          </a:p>
          <a:p>
            <a:pPr indent="-228600" lvl="1" marL="685800" rtl="0" algn="l">
              <a:lnSpc>
                <a:spcPct val="90000"/>
              </a:lnSpc>
              <a:spcBef>
                <a:spcPts val="500"/>
              </a:spcBef>
              <a:spcAft>
                <a:spcPts val="0"/>
              </a:spcAft>
              <a:buClr>
                <a:schemeClr val="dk1"/>
              </a:buClr>
              <a:buSzPct val="100000"/>
              <a:buChar char="•"/>
            </a:pPr>
            <a:r>
              <a:rPr lang="en-US"/>
              <a:t>How many variables?</a:t>
            </a:r>
            <a:endParaRPr/>
          </a:p>
          <a:p>
            <a:pPr indent="-64135" lvl="0" marL="228600" rtl="0" algn="l">
              <a:lnSpc>
                <a:spcPct val="90000"/>
              </a:lnSpc>
              <a:spcBef>
                <a:spcPts val="1000"/>
              </a:spcBef>
              <a:spcAft>
                <a:spcPts val="0"/>
              </a:spcAft>
              <a:buClr>
                <a:schemeClr val="dk1"/>
              </a:buClr>
              <a:buSzPct val="100000"/>
              <a:buNone/>
            </a:pPr>
            <a:r>
              <a:t/>
            </a:r>
            <a:endParaRPr/>
          </a:p>
        </p:txBody>
      </p:sp>
      <p:graphicFrame>
        <p:nvGraphicFramePr>
          <p:cNvPr id="325" name="Google Shape;325;p20"/>
          <p:cNvGraphicFramePr/>
          <p:nvPr/>
        </p:nvGraphicFramePr>
        <p:xfrm>
          <a:off x="1141845" y="3050309"/>
          <a:ext cx="3000000" cy="3000000"/>
        </p:xfrm>
        <a:graphic>
          <a:graphicData uri="http://schemas.openxmlformats.org/drawingml/2006/table">
            <a:tbl>
              <a:tblPr>
                <a:noFill/>
                <a:tableStyleId>{7C20AF67-AB53-4517-99BE-E3E2463129E6}</a:tableStyleId>
              </a:tblPr>
              <a:tblGrid>
                <a:gridCol w="825500"/>
                <a:gridCol w="825500"/>
              </a:tblGrid>
              <a:tr h="203200">
                <a:tc>
                  <a:txBody>
                    <a:bodyPr/>
                    <a:lstStyle/>
                    <a:p>
                      <a:pPr indent="0" lvl="0" marL="0" marR="0" rtl="0" algn="ctr">
                        <a:spcBef>
                          <a:spcPts val="0"/>
                        </a:spcBef>
                        <a:spcAft>
                          <a:spcPts val="0"/>
                        </a:spcAft>
                        <a:buNone/>
                      </a:pPr>
                      <a:r>
                        <a:rPr lang="en-US" sz="1200" u="none" cap="none" strike="noStrike"/>
                        <a:t>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Births</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Monday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110</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Tuesday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124</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Wednesday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104</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Thursday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94</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Friday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112</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Saturday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72</a:t>
                      </a:r>
                      <a:endParaRPr b="0" i="0" sz="1200" u="none" cap="none" strike="noStrike">
                        <a:solidFill>
                          <a:srgbClr val="000000"/>
                        </a:solidFill>
                        <a:latin typeface="Calibri"/>
                        <a:ea typeface="Calibri"/>
                        <a:cs typeface="Calibri"/>
                        <a:sym typeface="Calibri"/>
                      </a:endParaRPr>
                    </a:p>
                  </a:txBody>
                  <a:tcPr marT="9525" marB="0" marR="9525" marL="9525" anchor="b"/>
                </a:tc>
              </a:tr>
              <a:tr h="203200">
                <a:tc>
                  <a:txBody>
                    <a:bodyPr/>
                    <a:lstStyle/>
                    <a:p>
                      <a:pPr indent="0" lvl="0" marL="0" marR="0" rtl="0" algn="ctr">
                        <a:spcBef>
                          <a:spcPts val="0"/>
                        </a:spcBef>
                        <a:spcAft>
                          <a:spcPts val="0"/>
                        </a:spcAft>
                        <a:buNone/>
                      </a:pPr>
                      <a:r>
                        <a:rPr lang="en-US" sz="1200" u="none" cap="none" strike="noStrike"/>
                        <a:t>Sunday</a:t>
                      </a:r>
                      <a:endParaRPr b="0" i="0" sz="12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200" u="none" cap="none" strike="noStrike"/>
                        <a:t>84</a:t>
                      </a:r>
                      <a:endParaRPr b="0" i="0" sz="1200" u="none" cap="none" strike="noStrike">
                        <a:solidFill>
                          <a:srgbClr val="000000"/>
                        </a:solidFill>
                        <a:latin typeface="Calibri"/>
                        <a:ea typeface="Calibri"/>
                        <a:cs typeface="Calibri"/>
                        <a:sym typeface="Calibri"/>
                      </a:endParaRPr>
                    </a:p>
                  </a:txBody>
                  <a:tcPr marT="9525" marB="0" marR="9525" marL="9525" anchor="b"/>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30" name="Shape 330"/>
        <p:cNvGrpSpPr/>
        <p:nvPr/>
      </p:nvGrpSpPr>
      <p:grpSpPr>
        <a:xfrm>
          <a:off x="0" y="0"/>
          <a:ext cx="0" cy="0"/>
          <a:chOff x="0" y="0"/>
          <a:chExt cx="0" cy="0"/>
        </a:xfrm>
      </p:grpSpPr>
      <p:sp>
        <p:nvSpPr>
          <p:cNvPr id="331" name="Google Shape;33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5: Which test to perform? (Ch 21)</a:t>
            </a:r>
            <a:endParaRPr/>
          </a:p>
        </p:txBody>
      </p:sp>
      <p:sp>
        <p:nvSpPr>
          <p:cNvPr id="332" name="Google Shape;33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Categorical variable with &gt; 2 levels: Day of the week</a:t>
            </a:r>
            <a:endParaRPr/>
          </a:p>
          <a:p>
            <a:pPr indent="-228600" lvl="0" marL="228600" rtl="0" algn="l">
              <a:lnSpc>
                <a:spcPct val="90000"/>
              </a:lnSpc>
              <a:spcBef>
                <a:spcPts val="1000"/>
              </a:spcBef>
              <a:spcAft>
                <a:spcPts val="0"/>
              </a:spcAft>
              <a:buClr>
                <a:schemeClr val="dk1"/>
              </a:buClr>
              <a:buSzPct val="100000"/>
              <a:buChar char="•"/>
            </a:pPr>
            <a:r>
              <a:rPr lang="en-US"/>
              <a:t>One sample</a:t>
            </a:r>
            <a:endParaRPr/>
          </a:p>
          <a:p>
            <a:pPr indent="-228600" lvl="0" marL="228600" rtl="0" algn="l">
              <a:lnSpc>
                <a:spcPct val="90000"/>
              </a:lnSpc>
              <a:spcBef>
                <a:spcPts val="1000"/>
              </a:spcBef>
              <a:spcAft>
                <a:spcPts val="0"/>
              </a:spcAft>
              <a:buClr>
                <a:schemeClr val="dk1"/>
              </a:buClr>
              <a:buSzPct val="100000"/>
              <a:buChar char="•"/>
            </a:pPr>
            <a:r>
              <a:rPr lang="en-US"/>
              <a:t>Note that you have a table of data where the numeric information is only one column and you’re asked if data is evenly distributed across the days</a:t>
            </a:r>
            <a:endParaRPr/>
          </a:p>
          <a:p>
            <a:pPr indent="-228600" lvl="1" marL="685800" rtl="0" algn="l">
              <a:lnSpc>
                <a:spcPct val="90000"/>
              </a:lnSpc>
              <a:spcBef>
                <a:spcPts val="500"/>
              </a:spcBef>
              <a:spcAft>
                <a:spcPts val="0"/>
              </a:spcAft>
              <a:buClr>
                <a:schemeClr val="dk1"/>
              </a:buClr>
              <a:buSzPct val="100000"/>
              <a:buChar char="•"/>
            </a:pPr>
            <a:r>
              <a:rPr lang="en-US"/>
              <a:t>This signals that the null is an “even distribution” across the days and should remind you to calculate observed counts (provided) and expected counts (under the null)</a:t>
            </a:r>
            <a:endParaRPr/>
          </a:p>
          <a:p>
            <a:pPr indent="-228600" lvl="0" marL="228600" rtl="0" algn="l">
              <a:lnSpc>
                <a:spcPct val="90000"/>
              </a:lnSpc>
              <a:spcBef>
                <a:spcPts val="1000"/>
              </a:spcBef>
              <a:spcAft>
                <a:spcPts val="0"/>
              </a:spcAft>
              <a:buClr>
                <a:schemeClr val="dk1"/>
              </a:buClr>
              <a:buSzPct val="100000"/>
              <a:buChar char="•"/>
            </a:pPr>
            <a:r>
              <a:rPr lang="en-US"/>
              <a:t>Questions that could be asked:</a:t>
            </a:r>
            <a:endParaRPr/>
          </a:p>
          <a:p>
            <a:pPr indent="-228600" lvl="1" marL="685800" rtl="0" algn="l">
              <a:lnSpc>
                <a:spcPct val="90000"/>
              </a:lnSpc>
              <a:spcBef>
                <a:spcPts val="500"/>
              </a:spcBef>
              <a:spcAft>
                <a:spcPts val="0"/>
              </a:spcAft>
              <a:buClr>
                <a:schemeClr val="dk1"/>
              </a:buClr>
              <a:buSzPct val="100000"/>
              <a:buChar char="•"/>
            </a:pPr>
            <a:r>
              <a:rPr lang="en-US"/>
              <a:t>Calculate the expected counts, calculate the test statistic, what are the degrees of freedom, write code to calculate the p-value. What day of the week contributes data that is furthest from the null hypothesis?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2019-12-02T19:30:33Z</dcterms:created>
  <dc:creator>Microsoft Office User</dc:creator>
</cp:coreProperties>
</file>